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3421" autoAdjust="0"/>
  </p:normalViewPr>
  <p:slideViewPr>
    <p:cSldViewPr snapToGrid="0" snapToObjects="1">
      <p:cViewPr varScale="1">
        <p:scale>
          <a:sx n="54" d="100"/>
          <a:sy n="54" d="100"/>
        </p:scale>
        <p:origin x="1781" y="1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94604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Omer</a:t>
            </a:r>
          </a:p>
          <a:p>
            <a:r>
              <a:t>'Good morning respected faculty members. Today our team—Anshuman, Zeeshan, and myself, Omer—presents our Deep Learning Capstone project on Speech Emotion Recognition using Dilated Capsule Networks. We operated in a four-stage sequential pipeline: I prepared and cleaned the audio datasets; Anshuman implemented the DCapsNet architecture, acoustic features, and established baseline runs; Zeeshan systematically tuned the model and performed routing ablation to elevate accuracy by nearly 10%; and finally, I performed the 10-fold comparative evaluation and integrated the model into a live deployment application.'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Omer</a:t>
            </a:r>
          </a:p>
          <a:p>
            <a:r>
              <a:t>'Speech emotion recognition differs from speech-to-text. While speech-to-text cares about phonemes, emotion is conveyed by paralinguistic cues—pitch shifts, cadence, and harmonic energy. Traditional CNNs use pooling to reduce dimensions, but this destroys the relative positioning between pitch peaks. Capsule networks replace scalar neurons with vector capsules, preserving both the presence and the orientation of acoustic features. Our goal was to implement a Dilated Capsule Network that overcomes this pooling limitation without exploding latency.'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Omer</a:t>
            </a:r>
          </a:p>
          <a:p>
            <a:r>
              <a:t>'My primary responsibility was ensuring rigorous data engineering. I organized RAVDESS, SAVEE, and EMO-DB. In RAVDESS, we identified the 1:2 class imbalance: neutral only has 96 samples because actors only recorded it at normal intensity, while other emotions have 192 samples. To handle this, I engineered a Stratified 10-Fold cross-validation split that maintains the exact class ratio across every fold. All clips were pre-emphasized to boost high-frequency formants and trimmed to 3 seconds. Crucially, feature scaling was fitted strictly on train folds, preventing any test set leakage.'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Anshuman</a:t>
            </a:r>
          </a:p>
          <a:p>
            <a:r>
              <a:t>'Taking Omer’s preprocessed audio, I implemented the multi-feature extraction pipeline. Rather than relying on simple MFCCs alone, we constructed a comprehensive 217-dimensional acoustic vector combining 40 MFCCs, 12 Chroma features, 128 Mel bands, 7 Spectral Contrast bands, and 30 Tonality features. Importantly, I discovered and corrected a mathematical discrepancy in the literature: the paper stated f_min=200 Hz with 7 octave bands, which exceeds the Nyquist frequency at 22 kHz. Correcting f_min to 100 Hz preserved all 7 bands without signal clipping.'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Anshuman</a:t>
            </a:r>
          </a:p>
          <a:p>
            <a:r>
              <a:t>'To prevent our deep network from overfitting to individual speakers, I designed a 3-way waveform augmentation engine incorporating pitch shifting, white Gaussian noise injection, and tempo stretching. However, a major flaw in many published studies is augmenting the entire dataset before train-test splitting, which causes massive data leakage. In our implementation, augmentations were applied strictly during training iterations. Validation folds remained completely untouched.'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Anshuman</a:t>
            </a:r>
          </a:p>
          <a:p>
            <a:r>
              <a:t>'I implemented the DCapsNet architecture in Keras/TensorFlow. The network has 4 dilated 1D convolutional layers with exponential dilations 1, 2, 4, and 8, expanding the receptive field to 31 feature bins without any pooling downsampling. The primary capsules output 736 8-dimensional vectors, which route into 8 16-dimensional emotion digit capsules. The norm of each vector represents the probability of that emotion. We verified the architecture down to the exact parameter count of 1,225,472 matching Table 5 of the published research.'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Anshuman</a:t>
            </a:r>
          </a:p>
          <a:p>
            <a:r>
              <a:t>'To validate the DCapsNet architecture, I implemented standard 1D-CNN and 4-layer BiLSTM baselines. In our first cross-validation run, unoptimized DCapsNet scored 54.10%, beating 1D-CNN at 51.81% and BiLSTM at 51.39%. However, the network suffered from high fold variance of +- 5.8% and early learning rate plateauing. With the architecture verified, I handed the codebase to Zeeshan to systematically tune hyperparameters and optimize accuracy.'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Zeeshan</a:t>
            </a:r>
          </a:p>
          <a:p>
            <a:r>
              <a:t>'My assigned responsibility was model training and accuracy optimization. Capsule networks are notoriously sensitive to gradient scale because vector squashing non-linearities can saturate gradients. Over 5 systematic training runs, I tuned learning rates, batch sizes, and regularization. Shifting to an initial learning rate of 3e-4 with ReduceLROnPlateau yielded +3.54%. Selecting a batch size of 16 gave another +2.78%. Adding gradient clipping and weight decay stabilized squashing norms. In total, I improved the model by +9.44% over baseline, bringing mean accuracy to 63.54% and peak fold accuracy to 72.22%.'</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Zeeshan</a:t>
            </a:r>
          </a:p>
          <a:p>
            <a:r>
              <a:t>'We also conducted a scientific ablation study on the dynamic routing algorithm itself. By testing r=1, 2, and 3 routing iterations, we proved that dynamic agreement acts as an iterative clustering mechanism. Increasing from r=1 to r=3 reduced cross-fold variance by 65%—from 5.68% down to 1.96%—and improved boundary separation between acoustically overlapping emotions like Happy and Angry. Furthermore, the latency cost of 3 iterations was only 0.52 milliseconds. With training complete, I handed the model back to Omer for final evaluation.'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Omer</a:t>
            </a:r>
          </a:p>
          <a:p>
            <a:r>
              <a:t>'Receiving the finalized model from Zeeshan, I executed our full 10-fold benchmark protocol. DCapsNet demonstrated decisive superiority, beating the 1D-CNN baseline by +11.73% and the BiLSTM baseline by +12.15%. Moreover, at 8.24 milliseconds per audio clip, DCapsNet operates 3 times faster than BiLSTM, confirming its suitability for real-time edge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Omer</a:t>
            </a:r>
          </a:p>
          <a:p>
            <a:r>
              <a:t>'Analyzing the confusion matrix, high-arousal emotions like Anger and Surprise achieved F1-scores approaching 0.80. The primary confusion occurred between Calm and Neutral due to their flat pitch contours. Crucially, we investigated why our 63.54% differs from the 93.8% reported in the literature: the paper evaluated overlapping 128-sample micro-segments with majority voting, whereas our benchmark evaluates true, honest sentence-level classification under strict zero-leakage conditions.'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Omer</a:t>
            </a:r>
          </a:p>
          <a:p>
            <a:r>
              <a:t>'To make our research accessible and practical, I packaged the model into a responsive Streamlit web application running live on localhost 8501. A user can upload any audio clip or record speech. The app extracts 217 features in under 15 ms, executes the DCapsNet forward pass, and displays the top predicted emotion badge alongside a full 8-class probability distribution and interactive audio player.'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Zeeshan (with Anshuman and Omer)</a:t>
            </a:r>
          </a:p>
          <a:p>
            <a:r>
              <a:t>'This project succeeded because of clear, interdependent engineering hand-offs. Omer’s clean data allowed Anshuman to implement a mathematically faithful architecture; Anshuman’s clean baseline enabled me to systematically tune and gain +9.44% accuracy; and Omer translated the final weights into rigorous benchmarks and an interactive application.'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All</a:t>
            </a:r>
          </a:p>
          <a:p>
            <a:r>
              <a:t>'In conclusion, our project proves that Dilated Capsule Networks overcome the pooling bottleneck in Speech Emotion Recognition, achieving +11.73% higher accuracy than 1D-CNNs and +12.15% higher accuracy than BiLSTMs while operating at low latency. We thank our faculty mentors and are now open for viva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3" name="TextBox 2"/>
          <p:cNvSpPr txBox="1"/>
          <p:nvPr/>
        </p:nvSpPr>
        <p:spPr>
          <a:xfrm>
            <a:off x="731520" y="228600"/>
            <a:ext cx="10698480" cy="677108"/>
          </a:xfrm>
          <a:prstGeom prst="rect">
            <a:avLst/>
          </a:prstGeom>
          <a:noFill/>
        </p:spPr>
        <p:txBody>
          <a:bodyPr wrap="square">
            <a:spAutoFit/>
          </a:bodyPr>
          <a:lstStyle/>
          <a:p>
            <a:pPr>
              <a:defRPr sz="2400" b="1">
                <a:solidFill>
                  <a:srgbClr val="FFFFFF"/>
                </a:solidFill>
              </a:defRPr>
            </a:pPr>
            <a:r>
              <a:t>Dilated Capsule Network (DCapsNet) for Speech Emotion Recognition</a:t>
            </a:r>
          </a:p>
          <a:p>
            <a:pPr>
              <a:defRPr sz="1400">
                <a:solidFill>
                  <a:srgbClr val="94A3B8"/>
                </a:solidFill>
              </a:defRPr>
            </a:pPr>
            <a:r>
              <a:t>Deep Learning Capstone Project | B.Tech Final Year Evaluation | NMIMS MPSTME</a:t>
            </a:r>
          </a:p>
        </p:txBody>
      </p:sp>
      <p:sp>
        <p:nvSpPr>
          <p:cNvPr id="4" name="Rounded Rectangle 3"/>
          <p:cNvSpPr/>
          <p:nvPr/>
        </p:nvSpPr>
        <p:spPr>
          <a:xfrm>
            <a:off x="731520" y="1920240"/>
            <a:ext cx="10728655" cy="100584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2563EB"/>
                </a:solidFill>
              </a:defRPr>
            </a:pPr>
            <a:r>
              <a:rPr>
                <a:solidFill>
                  <a:schemeClr val="tx1"/>
                </a:solidFill>
              </a:rPr>
              <a:t>SEQUENTIAL TEAM WORKFLOW &amp; ENGINEERING PIPELINE</a:t>
            </a:r>
          </a:p>
          <a:p>
            <a:pPr>
              <a:defRPr sz="1300" b="1">
                <a:solidFill>
                  <a:srgbClr val="0F172A"/>
                </a:solidFill>
              </a:defRPr>
            </a:pPr>
            <a:r>
              <a:rPr>
                <a:solidFill>
                  <a:schemeClr val="tx1"/>
                </a:solidFill>
              </a:rPr>
              <a:t>Stage 1: Omer (Dataset Preparation)  --&gt;  Stage 2: Anshuman (Architecture &amp; Baselines)  --&gt;  Stage 3: Zeeshan (Tuning &amp; Accuracy Gains)  --&gt;  Stage 4: Omer (Evaluation &amp; Live UI)</a:t>
            </a:r>
          </a:p>
        </p:txBody>
      </p:sp>
      <p:sp>
        <p:nvSpPr>
          <p:cNvPr id="5" name="Rounded Rectangle 4"/>
          <p:cNvSpPr/>
          <p:nvPr/>
        </p:nvSpPr>
        <p:spPr>
          <a:xfrm>
            <a:off x="731520" y="3154680"/>
            <a:ext cx="3383280" cy="3291840"/>
          </a:xfrm>
          <a:prstGeom prst="roundRect">
            <a:avLst/>
          </a:prstGeom>
          <a:solidFill>
            <a:srgbClr val="F0F9FF"/>
          </a:solidFill>
          <a:ln>
            <a:solidFill>
              <a:srgbClr val="0284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0284C7"/>
                </a:solidFill>
              </a:defRPr>
            </a:pPr>
            <a:r>
              <a:rPr dirty="0">
                <a:solidFill>
                  <a:schemeClr val="tx1"/>
                </a:solidFill>
              </a:rPr>
              <a:t>OMER</a:t>
            </a:r>
          </a:p>
          <a:p>
            <a:pPr>
              <a:defRPr sz="1200" b="1">
                <a:solidFill>
                  <a:srgbClr val="0F172A"/>
                </a:solidFill>
              </a:defRPr>
            </a:pPr>
            <a:r>
              <a:rPr dirty="0">
                <a:solidFill>
                  <a:schemeClr val="tx1"/>
                </a:solidFill>
              </a:rPr>
              <a:t>Dataset Prep, Evaluation &amp; UI</a:t>
            </a:r>
          </a:p>
          <a:p>
            <a:pPr>
              <a:defRPr sz="1100">
                <a:solidFill>
                  <a:srgbClr val="475569"/>
                </a:solidFill>
              </a:defRPr>
            </a:pPr>
            <a:r>
              <a:rPr dirty="0">
                <a:solidFill>
                  <a:schemeClr val="tx1"/>
                </a:solidFill>
              </a:rPr>
              <a:t>- Collected &amp; harmonized RAVDESS, SAVEE, and EMO-DB speech corpora.</a:t>
            </a:r>
          </a:p>
          <a:p>
            <a:pPr>
              <a:defRPr sz="1100">
                <a:solidFill>
                  <a:srgbClr val="475569"/>
                </a:solidFill>
              </a:defRPr>
            </a:pPr>
            <a:r>
              <a:rPr dirty="0">
                <a:solidFill>
                  <a:schemeClr val="tx1"/>
                </a:solidFill>
              </a:rPr>
              <a:t>- Verified labels &amp; resolved 1:2 neutral class imbalance.</a:t>
            </a:r>
          </a:p>
          <a:p>
            <a:pPr>
              <a:defRPr sz="1100">
                <a:solidFill>
                  <a:srgbClr val="475569"/>
                </a:solidFill>
              </a:defRPr>
            </a:pPr>
            <a:r>
              <a:rPr dirty="0">
                <a:solidFill>
                  <a:schemeClr val="tx1"/>
                </a:solidFill>
              </a:rPr>
              <a:t>- Conducted 10-fold final evaluation: Accuracy, Precision, Recall, F1, and Confusion Matrix.</a:t>
            </a:r>
          </a:p>
          <a:p>
            <a:pPr>
              <a:defRPr sz="1100">
                <a:solidFill>
                  <a:srgbClr val="475569"/>
                </a:solidFill>
              </a:defRPr>
            </a:pPr>
            <a:r>
              <a:rPr dirty="0">
                <a:solidFill>
                  <a:schemeClr val="tx1"/>
                </a:solidFill>
              </a:rPr>
              <a:t>- Built and deployed real-time interactive </a:t>
            </a:r>
            <a:r>
              <a:rPr dirty="0" err="1">
                <a:solidFill>
                  <a:schemeClr val="tx1"/>
                </a:solidFill>
              </a:rPr>
              <a:t>Streamlit</a:t>
            </a:r>
            <a:r>
              <a:rPr dirty="0">
                <a:solidFill>
                  <a:schemeClr val="tx1"/>
                </a:solidFill>
              </a:rPr>
              <a:t> web application.</a:t>
            </a:r>
          </a:p>
        </p:txBody>
      </p:sp>
      <p:sp>
        <p:nvSpPr>
          <p:cNvPr id="6" name="Rounded Rectangle 5"/>
          <p:cNvSpPr/>
          <p:nvPr/>
        </p:nvSpPr>
        <p:spPr>
          <a:xfrm>
            <a:off x="4389120" y="3154680"/>
            <a:ext cx="3383280" cy="3291840"/>
          </a:xfrm>
          <a:prstGeom prst="roundRect">
            <a:avLst/>
          </a:prstGeom>
          <a:solidFill>
            <a:srgbClr val="F5F3FF"/>
          </a:solidFill>
          <a:ln>
            <a:solidFill>
              <a:srgbClr val="7C3AE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7C3AED"/>
                </a:solidFill>
              </a:defRPr>
            </a:pPr>
            <a:r>
              <a:rPr>
                <a:solidFill>
                  <a:schemeClr val="tx1"/>
                </a:solidFill>
              </a:rPr>
              <a:t>ANSHUMAN</a:t>
            </a:r>
          </a:p>
          <a:p>
            <a:pPr>
              <a:defRPr sz="1200" b="1">
                <a:solidFill>
                  <a:srgbClr val="0F172A"/>
                </a:solidFill>
              </a:defRPr>
            </a:pPr>
            <a:r>
              <a:rPr>
                <a:solidFill>
                  <a:schemeClr val="tx1"/>
                </a:solidFill>
              </a:rPr>
              <a:t>Model Architecture &amp; Baseline Pipeline</a:t>
            </a:r>
          </a:p>
          <a:p>
            <a:pPr>
              <a:defRPr sz="1100">
                <a:solidFill>
                  <a:srgbClr val="475569"/>
                </a:solidFill>
              </a:defRPr>
            </a:pPr>
            <a:r>
              <a:rPr>
                <a:solidFill>
                  <a:schemeClr val="tx1"/>
                </a:solidFill>
              </a:rPr>
              <a:t>- Implemented 1.225M-parameter DCapsNet (Conv1D + PrimaryCaps + DigitCaps).</a:t>
            </a:r>
          </a:p>
          <a:p>
            <a:pPr>
              <a:defRPr sz="1100">
                <a:solidFill>
                  <a:srgbClr val="475569"/>
                </a:solidFill>
              </a:defRPr>
            </a:pPr>
            <a:r>
              <a:rPr>
                <a:solidFill>
                  <a:schemeClr val="tx1"/>
                </a:solidFill>
              </a:rPr>
              <a:t>- Engineered 217-D acoustic extractor (MFCC, Chroma, Mel, Contrast, Tonality).</a:t>
            </a:r>
          </a:p>
          <a:p>
            <a:pPr>
              <a:defRPr sz="1100">
                <a:solidFill>
                  <a:srgbClr val="475569"/>
                </a:solidFill>
              </a:defRPr>
            </a:pPr>
            <a:r>
              <a:rPr>
                <a:solidFill>
                  <a:schemeClr val="tx1"/>
                </a:solidFill>
              </a:rPr>
              <a:t>- Built leakage-free waveform data augmentation engine (Pitch, Noise, Stretch).</a:t>
            </a:r>
          </a:p>
          <a:p>
            <a:pPr>
              <a:defRPr sz="1100">
                <a:solidFill>
                  <a:srgbClr val="475569"/>
                </a:solidFill>
              </a:defRPr>
            </a:pPr>
            <a:r>
              <a:rPr>
                <a:solidFill>
                  <a:schemeClr val="tx1"/>
                </a:solidFill>
              </a:rPr>
              <a:t>- Created 1D-CNN and BiLSTM baselines &amp; executed initial CV benchmark (54.10%).</a:t>
            </a:r>
          </a:p>
        </p:txBody>
      </p:sp>
      <p:sp>
        <p:nvSpPr>
          <p:cNvPr id="7" name="Rounded Rectangle 6"/>
          <p:cNvSpPr/>
          <p:nvPr/>
        </p:nvSpPr>
        <p:spPr>
          <a:xfrm>
            <a:off x="8046720" y="3154680"/>
            <a:ext cx="3383280" cy="3291840"/>
          </a:xfrm>
          <a:prstGeom prst="roundRect">
            <a:avLst/>
          </a:prstGeom>
          <a:solidFill>
            <a:srgbClr val="FFFBEB"/>
          </a:solidFill>
          <a:ln>
            <a:solidFill>
              <a:srgbClr val="D9770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D97706"/>
                </a:solidFill>
              </a:defRPr>
            </a:pPr>
            <a:r>
              <a:rPr>
                <a:solidFill>
                  <a:schemeClr val="tx1"/>
                </a:solidFill>
              </a:rPr>
              <a:t>ZEESHAN</a:t>
            </a:r>
          </a:p>
          <a:p>
            <a:pPr>
              <a:defRPr sz="1200" b="1">
                <a:solidFill>
                  <a:srgbClr val="0F172A"/>
                </a:solidFill>
              </a:defRPr>
            </a:pPr>
            <a:r>
              <a:rPr>
                <a:solidFill>
                  <a:schemeClr val="tx1"/>
                </a:solidFill>
              </a:rPr>
              <a:t>Model Training &amp; Accuracy Optimization</a:t>
            </a:r>
          </a:p>
          <a:p>
            <a:pPr>
              <a:defRPr sz="1100">
                <a:solidFill>
                  <a:srgbClr val="475569"/>
                </a:solidFill>
              </a:defRPr>
            </a:pPr>
            <a:r>
              <a:rPr>
                <a:solidFill>
                  <a:schemeClr val="tx1"/>
                </a:solidFill>
              </a:rPr>
              <a:t>- Tuned training schedule: LR (3e-4), ReduceLROnPlateau, Batch Size (16).</a:t>
            </a:r>
          </a:p>
          <a:p>
            <a:pPr>
              <a:defRPr sz="1100">
                <a:solidFill>
                  <a:srgbClr val="475569"/>
                </a:solidFill>
              </a:defRPr>
            </a:pPr>
            <a:r>
              <a:rPr>
                <a:solidFill>
                  <a:schemeClr val="tx1"/>
                </a:solidFill>
              </a:rPr>
              <a:t>- Resolved capsule squashing gradient saturation with weight decay &amp; clipping.</a:t>
            </a:r>
          </a:p>
          <a:p>
            <a:pPr>
              <a:defRPr sz="1100">
                <a:solidFill>
                  <a:srgbClr val="475569"/>
                </a:solidFill>
              </a:defRPr>
            </a:pPr>
            <a:r>
              <a:rPr>
                <a:solidFill>
                  <a:schemeClr val="tx1"/>
                </a:solidFill>
              </a:rPr>
              <a:t>- Conducted Dynamic Routing ablation across r in {1, 2, 3} iterations.</a:t>
            </a:r>
          </a:p>
          <a:p>
            <a:pPr>
              <a:defRPr sz="1100">
                <a:solidFill>
                  <a:srgbClr val="475569"/>
                </a:solidFill>
              </a:defRPr>
            </a:pPr>
            <a:r>
              <a:rPr>
                <a:solidFill>
                  <a:schemeClr val="tx1"/>
                </a:solidFill>
              </a:rPr>
              <a:t>- Boosted 10-fold CV accuracy by +9.44% (from 54.10% baseline to 63.54%, peak 72.22%).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3" name="Rounded Rectangle 2"/>
          <p:cNvSpPr/>
          <p:nvPr/>
        </p:nvSpPr>
        <p:spPr>
          <a:xfrm>
            <a:off x="731520" y="365760"/>
            <a:ext cx="4114800" cy="347472"/>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wrap="square" lIns="137160" tIns="36576" rtlCol="0" anchor="ctr"/>
          <a:lstStyle/>
          <a:p>
            <a:pPr algn="ctr">
              <a:defRPr sz="1100" b="1">
                <a:solidFill>
                  <a:srgbClr val="FFFFFF"/>
                </a:solidFill>
              </a:defRPr>
            </a:pPr>
            <a:r>
              <a:rPr sz="1100">
                <a:solidFill>
                  <a:schemeClr val="tx1"/>
                </a:solidFill>
              </a:rPr>
              <a:t>INTRODUCTION  |  PRESENTER: OMER</a:t>
            </a:r>
          </a:p>
        </p:txBody>
      </p:sp>
      <p:sp>
        <p:nvSpPr>
          <p:cNvPr id="4" name="TextBox 3"/>
          <p:cNvSpPr txBox="1"/>
          <p:nvPr/>
        </p:nvSpPr>
        <p:spPr>
          <a:xfrm>
            <a:off x="731520" y="777240"/>
            <a:ext cx="10698480" cy="415498"/>
          </a:xfrm>
          <a:prstGeom prst="rect">
            <a:avLst/>
          </a:prstGeom>
          <a:noFill/>
        </p:spPr>
        <p:txBody>
          <a:bodyPr wrap="square" lIns="0" tIns="0">
            <a:spAutoFit/>
          </a:bodyPr>
          <a:lstStyle/>
          <a:p>
            <a:pPr>
              <a:defRPr sz="2200" b="1">
                <a:solidFill>
                  <a:srgbClr val="0F172A"/>
                </a:solidFill>
              </a:defRPr>
            </a:pPr>
            <a:r>
              <a:rPr sz="2400"/>
              <a:t>Speech Emotion Recognition: The Feature Representation Problem</a:t>
            </a:r>
          </a:p>
        </p:txBody>
      </p:sp>
      <p:sp>
        <p:nvSpPr>
          <p:cNvPr id="5" name="Rounded Rectangle 4"/>
          <p:cNvSpPr/>
          <p:nvPr/>
        </p:nvSpPr>
        <p:spPr>
          <a:xfrm>
            <a:off x="731520" y="1645920"/>
            <a:ext cx="5120640" cy="466344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DC2626"/>
                </a:solidFill>
              </a:defRPr>
            </a:pPr>
            <a:r>
              <a:rPr sz="1400" dirty="0">
                <a:solidFill>
                  <a:schemeClr val="tx1"/>
                </a:solidFill>
              </a:rPr>
              <a:t>THE DILEMMA IN SPEECH EMOTION RECOGNITION</a:t>
            </a:r>
          </a:p>
          <a:p>
            <a:br>
              <a:rPr dirty="0">
                <a:solidFill>
                  <a:schemeClr val="tx1"/>
                </a:solidFill>
              </a:rPr>
            </a:br>
            <a:r>
              <a:rPr dirty="0">
                <a:solidFill>
                  <a:schemeClr val="tx1"/>
                </a:solidFill>
              </a:rPr>
              <a:t>* Acoustic Ambiguity</a:t>
            </a:r>
          </a:p>
          <a:p>
            <a:pPr>
              <a:defRPr sz="1100">
                <a:solidFill>
                  <a:srgbClr val="475569"/>
                </a:solidFill>
              </a:defRPr>
            </a:pPr>
            <a:r>
              <a:rPr sz="1100" dirty="0">
                <a:solidFill>
                  <a:schemeClr val="tx1"/>
                </a:solidFill>
              </a:rPr>
              <a:t>Speech emotions are paralinguistic—governed by subtle pitch variations, harmonic contours, and speech tempo rather than explicit vocabulary.</a:t>
            </a:r>
          </a:p>
          <a:p>
            <a:br>
              <a:rPr dirty="0">
                <a:solidFill>
                  <a:schemeClr val="tx1"/>
                </a:solidFill>
              </a:rPr>
            </a:br>
            <a:r>
              <a:rPr dirty="0">
                <a:solidFill>
                  <a:schemeClr val="tx1"/>
                </a:solidFill>
              </a:rPr>
              <a:t>* The Pooling Bottleneck in CNNs</a:t>
            </a:r>
          </a:p>
          <a:p>
            <a:pPr>
              <a:defRPr sz="1100">
                <a:solidFill>
                  <a:srgbClr val="475569"/>
                </a:solidFill>
              </a:defRPr>
            </a:pPr>
            <a:r>
              <a:rPr sz="1100" dirty="0">
                <a:solidFill>
                  <a:schemeClr val="tx1"/>
                </a:solidFill>
              </a:rPr>
              <a:t>Standard 1D/2D CNNs rely heavily on Max-Pooling or Average-Pooling. While pooling grants translation invariance, it violently discards spatial and temporal phase relationships between acoustic formants (e.g., F0 pitch vs. higher overtones).</a:t>
            </a:r>
          </a:p>
          <a:p>
            <a:br>
              <a:rPr dirty="0">
                <a:solidFill>
                  <a:schemeClr val="tx1"/>
                </a:solidFill>
              </a:rPr>
            </a:br>
            <a:r>
              <a:rPr dirty="0">
                <a:solidFill>
                  <a:schemeClr val="tx1"/>
                </a:solidFill>
              </a:rPr>
              <a:t>* Scalar Activation Blindness</a:t>
            </a:r>
          </a:p>
          <a:p>
            <a:pPr>
              <a:defRPr sz="1100">
                <a:solidFill>
                  <a:srgbClr val="475569"/>
                </a:solidFill>
              </a:defRPr>
            </a:pPr>
            <a:r>
              <a:rPr sz="1100" dirty="0">
                <a:solidFill>
                  <a:schemeClr val="tx1"/>
                </a:solidFill>
              </a:rPr>
              <a:t>Neurons in conventional CNNs output scalar activation strengths, completely losing orientation, temporal duration, and relative harmonic geometry.</a:t>
            </a:r>
          </a:p>
        </p:txBody>
      </p:sp>
      <p:sp>
        <p:nvSpPr>
          <p:cNvPr id="6" name="Rounded Rectangle 5"/>
          <p:cNvSpPr/>
          <p:nvPr/>
        </p:nvSpPr>
        <p:spPr>
          <a:xfrm>
            <a:off x="6217920" y="1645920"/>
            <a:ext cx="5212080" cy="466344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0B981"/>
                </a:solidFill>
              </a:defRPr>
            </a:pPr>
            <a:r>
              <a:rPr sz="1400" dirty="0">
                <a:solidFill>
                  <a:schemeClr val="tx1"/>
                </a:solidFill>
              </a:rPr>
              <a:t>THE DILATED CAPSULE NETWORK (</a:t>
            </a:r>
            <a:r>
              <a:rPr sz="1400" dirty="0" err="1">
                <a:solidFill>
                  <a:schemeClr val="tx1"/>
                </a:solidFill>
              </a:rPr>
              <a:t>DCapsNet</a:t>
            </a:r>
            <a:r>
              <a:rPr sz="1400" dirty="0">
                <a:solidFill>
                  <a:schemeClr val="tx1"/>
                </a:solidFill>
              </a:rPr>
              <a:t>) ADVANTAGE</a:t>
            </a:r>
          </a:p>
          <a:p>
            <a:br>
              <a:rPr dirty="0">
                <a:solidFill>
                  <a:schemeClr val="tx1"/>
                </a:solidFill>
              </a:rPr>
            </a:br>
            <a:r>
              <a:rPr dirty="0">
                <a:solidFill>
                  <a:schemeClr val="tx1"/>
                </a:solidFill>
              </a:rPr>
              <a:t>* Vector Capsules Instead of Scalar Neurons</a:t>
            </a:r>
          </a:p>
          <a:p>
            <a:pPr>
              <a:defRPr sz="1100">
                <a:solidFill>
                  <a:srgbClr val="475569"/>
                </a:solidFill>
              </a:defRPr>
            </a:pPr>
            <a:r>
              <a:rPr sz="1100" dirty="0">
                <a:solidFill>
                  <a:schemeClr val="tx1"/>
                </a:solidFill>
              </a:rPr>
              <a:t>Capsules output activity vectors. The length of the vector represents the probability that the emotion is present; its internal orientation represents subtle acoustic properties (prosody, cadence, timber).</a:t>
            </a:r>
          </a:p>
          <a:p>
            <a:br>
              <a:rPr dirty="0">
                <a:solidFill>
                  <a:schemeClr val="tx1"/>
                </a:solidFill>
              </a:rPr>
            </a:br>
            <a:r>
              <a:rPr dirty="0">
                <a:solidFill>
                  <a:schemeClr val="tx1"/>
                </a:solidFill>
              </a:rPr>
              <a:t>* Dilated 1D Convolutions</a:t>
            </a:r>
          </a:p>
          <a:p>
            <a:pPr>
              <a:defRPr sz="1100">
                <a:solidFill>
                  <a:srgbClr val="475569"/>
                </a:solidFill>
              </a:defRPr>
            </a:pPr>
            <a:r>
              <a:rPr sz="1100" dirty="0">
                <a:solidFill>
                  <a:schemeClr val="tx1"/>
                </a:solidFill>
              </a:rPr>
              <a:t>By exponentially scaling dilation rates (d in {1, 2, 4, 8}), the receptive field expands exponentially without pooling </a:t>
            </a:r>
            <a:r>
              <a:rPr sz="1100" dirty="0" err="1">
                <a:solidFill>
                  <a:schemeClr val="tx1"/>
                </a:solidFill>
              </a:rPr>
              <a:t>downsampling</a:t>
            </a:r>
            <a:r>
              <a:rPr sz="1100" dirty="0">
                <a:solidFill>
                  <a:schemeClr val="tx1"/>
                </a:solidFill>
              </a:rPr>
              <a:t>, preserving exact formant positions.</a:t>
            </a:r>
          </a:p>
          <a:p>
            <a:br>
              <a:rPr dirty="0">
                <a:solidFill>
                  <a:schemeClr val="tx1"/>
                </a:solidFill>
              </a:rPr>
            </a:br>
            <a:r>
              <a:rPr dirty="0">
                <a:solidFill>
                  <a:schemeClr val="tx1"/>
                </a:solidFill>
              </a:rPr>
              <a:t>* Dynamic Routing by Agreement</a:t>
            </a:r>
          </a:p>
          <a:p>
            <a:pPr>
              <a:defRPr sz="1100">
                <a:solidFill>
                  <a:srgbClr val="475569"/>
                </a:solidFill>
              </a:defRPr>
            </a:pPr>
            <a:r>
              <a:rPr sz="1100" dirty="0">
                <a:solidFill>
                  <a:schemeClr val="tx1"/>
                </a:solidFill>
              </a:rPr>
              <a:t>Primary capsules route feature representations into higher-level emotion capsules through iterative clustering agreement, preventing conflicting noise from corrupting predictions.</a:t>
            </a:r>
          </a:p>
          <a:p>
            <a:br>
              <a:rPr dirty="0">
                <a:solidFill>
                  <a:schemeClr val="tx1"/>
                </a:solidFill>
              </a:rPr>
            </a:br>
            <a:r>
              <a:rPr dirty="0">
                <a:solidFill>
                  <a:schemeClr val="tx1"/>
                </a:solidFill>
              </a:rPr>
              <a:t>* Project Objective</a:t>
            </a:r>
          </a:p>
          <a:p>
            <a:pPr>
              <a:defRPr sz="1100">
                <a:solidFill>
                  <a:srgbClr val="475569"/>
                </a:solidFill>
              </a:defRPr>
            </a:pPr>
            <a:r>
              <a:rPr sz="1100" dirty="0">
                <a:solidFill>
                  <a:schemeClr val="tx1"/>
                </a:solidFill>
              </a:rPr>
              <a:t>Build, rigorously tune, and benchmark </a:t>
            </a:r>
            <a:r>
              <a:rPr sz="1100" dirty="0" err="1">
                <a:solidFill>
                  <a:schemeClr val="tx1"/>
                </a:solidFill>
              </a:rPr>
              <a:t>DCapsNet</a:t>
            </a:r>
            <a:r>
              <a:rPr sz="1100" dirty="0">
                <a:solidFill>
                  <a:schemeClr val="tx1"/>
                </a:solidFill>
              </a:rPr>
              <a:t> against 1D-CNN and </a:t>
            </a:r>
            <a:r>
              <a:rPr sz="1100" dirty="0" err="1">
                <a:solidFill>
                  <a:schemeClr val="tx1"/>
                </a:solidFill>
              </a:rPr>
              <a:t>BiLSTM</a:t>
            </a:r>
            <a:r>
              <a:rPr sz="1100" dirty="0">
                <a:solidFill>
                  <a:schemeClr val="tx1"/>
                </a:solidFill>
              </a:rPr>
              <a:t> baselines on RAVDESS, SAVEE, and EMO-DB, and deliver an interactive web inference UI.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solidFill>
                <a:schemeClr val="tx1"/>
              </a:solidFill>
            </a:endParaRPr>
          </a:p>
        </p:txBody>
      </p:sp>
      <p:sp>
        <p:nvSpPr>
          <p:cNvPr id="3" name="Rounded Rectangle 2"/>
          <p:cNvSpPr/>
          <p:nvPr/>
        </p:nvSpPr>
        <p:spPr>
          <a:xfrm>
            <a:off x="731520" y="365760"/>
            <a:ext cx="4114800" cy="347472"/>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wrap="square" lIns="137160" tIns="36576" rtlCol="0" anchor="ctr"/>
          <a:lstStyle/>
          <a:p>
            <a:pPr algn="ctr">
              <a:defRPr sz="1100" b="1">
                <a:solidFill>
                  <a:srgbClr val="FFFFFF"/>
                </a:solidFill>
              </a:defRPr>
            </a:pPr>
            <a:r>
              <a:rPr sz="1600">
                <a:solidFill>
                  <a:schemeClr val="tx1"/>
                </a:solidFill>
              </a:rPr>
              <a:t>PHASE 1: DATA ENGINEERING  |  PRESENTER: OMER</a:t>
            </a:r>
          </a:p>
        </p:txBody>
      </p:sp>
      <p:sp>
        <p:nvSpPr>
          <p:cNvPr id="4" name="TextBox 3"/>
          <p:cNvSpPr txBox="1"/>
          <p:nvPr/>
        </p:nvSpPr>
        <p:spPr>
          <a:xfrm>
            <a:off x="731520" y="777240"/>
            <a:ext cx="10698480" cy="1154162"/>
          </a:xfrm>
          <a:prstGeom prst="rect">
            <a:avLst/>
          </a:prstGeom>
          <a:noFill/>
        </p:spPr>
        <p:txBody>
          <a:bodyPr wrap="square" lIns="0" tIns="0">
            <a:spAutoFit/>
          </a:bodyPr>
          <a:lstStyle/>
          <a:p>
            <a:pPr>
              <a:defRPr sz="2200" b="1">
                <a:solidFill>
                  <a:srgbClr val="0F172A"/>
                </a:solidFill>
              </a:defRPr>
            </a:pPr>
            <a:r>
              <a:rPr sz="3600"/>
              <a:t>Phase 1: Multi-Corpus Curation &amp; Preprocessing Pipeline</a:t>
            </a:r>
          </a:p>
        </p:txBody>
      </p:sp>
      <p:graphicFrame>
        <p:nvGraphicFramePr>
          <p:cNvPr id="5" name="Table 4"/>
          <p:cNvGraphicFramePr>
            <a:graphicFrameLocks noGrp="1"/>
          </p:cNvGraphicFramePr>
          <p:nvPr/>
        </p:nvGraphicFramePr>
        <p:xfrm>
          <a:off x="731520" y="1645920"/>
          <a:ext cx="10698480" cy="16459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411480">
                <a:tc>
                  <a:txBody>
                    <a:bodyPr/>
                    <a:lstStyle/>
                    <a:p>
                      <a:pPr>
                        <a:defRPr sz="1100" b="1">
                          <a:solidFill>
                            <a:srgbClr val="FFFFFF"/>
                          </a:solidFill>
                        </a:defRPr>
                      </a:pPr>
                      <a:r>
                        <a:t>Dataset Corpus</a:t>
                      </a:r>
                    </a:p>
                  </a:txBody>
                  <a:tcPr>
                    <a:solidFill>
                      <a:srgbClr val="0F172A"/>
                    </a:solidFill>
                  </a:tcPr>
                </a:tc>
                <a:tc>
                  <a:txBody>
                    <a:bodyPr/>
                    <a:lstStyle/>
                    <a:p>
                      <a:pPr>
                        <a:defRPr sz="1100" b="1">
                          <a:solidFill>
                            <a:srgbClr val="FFFFFF"/>
                          </a:solidFill>
                        </a:defRPr>
                      </a:pPr>
                      <a:r>
                        <a:t>Utterance Count</a:t>
                      </a:r>
                    </a:p>
                  </a:txBody>
                  <a:tcPr>
                    <a:solidFill>
                      <a:srgbClr val="0F172A"/>
                    </a:solidFill>
                  </a:tcPr>
                </a:tc>
                <a:tc>
                  <a:txBody>
                    <a:bodyPr/>
                    <a:lstStyle/>
                    <a:p>
                      <a:pPr>
                        <a:defRPr sz="1100" b="1">
                          <a:solidFill>
                            <a:srgbClr val="FFFFFF"/>
                          </a:solidFill>
                        </a:defRPr>
                      </a:pPr>
                      <a:r>
                        <a:t>Speaker Demographics</a:t>
                      </a:r>
                    </a:p>
                  </a:txBody>
                  <a:tcPr>
                    <a:solidFill>
                      <a:srgbClr val="0F172A"/>
                    </a:solidFill>
                  </a:tcPr>
                </a:tc>
                <a:tc>
                  <a:txBody>
                    <a:bodyPr/>
                    <a:lstStyle/>
                    <a:p>
                      <a:pPr>
                        <a:defRPr sz="1100" b="1">
                          <a:solidFill>
                            <a:srgbClr val="FFFFFF"/>
                          </a:solidFill>
                        </a:defRPr>
                      </a:pPr>
                      <a:r>
                        <a:t>Emotion Classes</a:t>
                      </a:r>
                    </a:p>
                  </a:txBody>
                  <a:tcPr>
                    <a:solidFill>
                      <a:srgbClr val="0F172A"/>
                    </a:solidFill>
                  </a:tcPr>
                </a:tc>
                <a:tc>
                  <a:txBody>
                    <a:bodyPr/>
                    <a:lstStyle/>
                    <a:p>
                      <a:pPr>
                        <a:defRPr sz="1100" b="1">
                          <a:solidFill>
                            <a:srgbClr val="FFFFFF"/>
                          </a:solidFill>
                        </a:defRPr>
                      </a:pPr>
                      <a:r>
                        <a:t>Sampling Rate</a:t>
                      </a:r>
                    </a:p>
                  </a:txBody>
                  <a:tcPr>
                    <a:solidFill>
                      <a:srgbClr val="0F172A"/>
                    </a:solidFill>
                  </a:tcPr>
                </a:tc>
                <a:extLst>
                  <a:ext uri="{0D108BD9-81ED-4DB2-BD59-A6C34878D82A}">
                    <a16:rowId xmlns:a16="http://schemas.microsoft.com/office/drawing/2014/main" val="10000"/>
                  </a:ext>
                </a:extLst>
              </a:tr>
              <a:tr h="411480">
                <a:tc>
                  <a:txBody>
                    <a:bodyPr/>
                    <a:lstStyle/>
                    <a:p>
                      <a:pPr>
                        <a:defRPr sz="1000">
                          <a:solidFill>
                            <a:srgbClr val="0F172A"/>
                          </a:solidFill>
                        </a:defRPr>
                      </a:pPr>
                      <a:r>
                        <a:t>RAVDESS (Primary)</a:t>
                      </a:r>
                    </a:p>
                  </a:txBody>
                  <a:tcPr>
                    <a:solidFill>
                      <a:srgbClr val="FFFFFF"/>
                    </a:solidFill>
                  </a:tcPr>
                </a:tc>
                <a:tc>
                  <a:txBody>
                    <a:bodyPr/>
                    <a:lstStyle/>
                    <a:p>
                      <a:pPr>
                        <a:defRPr sz="1000">
                          <a:solidFill>
                            <a:srgbClr val="0F172A"/>
                          </a:solidFill>
                        </a:defRPr>
                      </a:pPr>
                      <a:r>
                        <a:t>1,440 clips</a:t>
                      </a:r>
                    </a:p>
                  </a:txBody>
                  <a:tcPr>
                    <a:solidFill>
                      <a:srgbClr val="FFFFFF"/>
                    </a:solidFill>
                  </a:tcPr>
                </a:tc>
                <a:tc>
                  <a:txBody>
                    <a:bodyPr/>
                    <a:lstStyle/>
                    <a:p>
                      <a:pPr>
                        <a:defRPr sz="1000">
                          <a:solidFill>
                            <a:srgbClr val="0F172A"/>
                          </a:solidFill>
                        </a:defRPr>
                      </a:pPr>
                      <a:r>
                        <a:t>24 Actors (12 Male, 12 Female)</a:t>
                      </a:r>
                    </a:p>
                  </a:txBody>
                  <a:tcPr>
                    <a:solidFill>
                      <a:srgbClr val="FFFFFF"/>
                    </a:solidFill>
                  </a:tcPr>
                </a:tc>
                <a:tc>
                  <a:txBody>
                    <a:bodyPr/>
                    <a:lstStyle/>
                    <a:p>
                      <a:pPr>
                        <a:defRPr sz="1000">
                          <a:solidFill>
                            <a:srgbClr val="0F172A"/>
                          </a:solidFill>
                        </a:defRPr>
                      </a:pPr>
                      <a:r>
                        <a:t>8 Classes (Neutral, Calm, Happy, Sad, Angry, Fear, Disgust, Surprise)</a:t>
                      </a:r>
                    </a:p>
                  </a:txBody>
                  <a:tcPr>
                    <a:solidFill>
                      <a:srgbClr val="FFFFFF"/>
                    </a:solidFill>
                  </a:tcPr>
                </a:tc>
                <a:tc>
                  <a:txBody>
                    <a:bodyPr/>
                    <a:lstStyle/>
                    <a:p>
                      <a:pPr>
                        <a:defRPr sz="1000">
                          <a:solidFill>
                            <a:srgbClr val="0F172A"/>
                          </a:solidFill>
                        </a:defRPr>
                      </a:pPr>
                      <a:r>
                        <a:t>22,050 Hz (Target)</a:t>
                      </a:r>
                    </a:p>
                  </a:txBody>
                  <a:tcPr>
                    <a:solidFill>
                      <a:srgbClr val="FFFFFF"/>
                    </a:solidFill>
                  </a:tcPr>
                </a:tc>
                <a:extLst>
                  <a:ext uri="{0D108BD9-81ED-4DB2-BD59-A6C34878D82A}">
                    <a16:rowId xmlns:a16="http://schemas.microsoft.com/office/drawing/2014/main" val="10001"/>
                  </a:ext>
                </a:extLst>
              </a:tr>
              <a:tr h="411480">
                <a:tc>
                  <a:txBody>
                    <a:bodyPr/>
                    <a:lstStyle/>
                    <a:p>
                      <a:pPr>
                        <a:defRPr sz="1000">
                          <a:solidFill>
                            <a:srgbClr val="0F172A"/>
                          </a:solidFill>
                        </a:defRPr>
                      </a:pPr>
                      <a:r>
                        <a:t>SAVEE (Evaluation)</a:t>
                      </a:r>
                    </a:p>
                  </a:txBody>
                  <a:tcPr>
                    <a:solidFill>
                      <a:srgbClr val="F1F5F9"/>
                    </a:solidFill>
                  </a:tcPr>
                </a:tc>
                <a:tc>
                  <a:txBody>
                    <a:bodyPr/>
                    <a:lstStyle/>
                    <a:p>
                      <a:pPr>
                        <a:defRPr sz="1000">
                          <a:solidFill>
                            <a:srgbClr val="0F172A"/>
                          </a:solidFill>
                        </a:defRPr>
                      </a:pPr>
                      <a:r>
                        <a:t>480 clips</a:t>
                      </a:r>
                    </a:p>
                  </a:txBody>
                  <a:tcPr>
                    <a:solidFill>
                      <a:srgbClr val="F1F5F9"/>
                    </a:solidFill>
                  </a:tcPr>
                </a:tc>
                <a:tc>
                  <a:txBody>
                    <a:bodyPr/>
                    <a:lstStyle/>
                    <a:p>
                      <a:pPr>
                        <a:defRPr sz="1000">
                          <a:solidFill>
                            <a:srgbClr val="0F172A"/>
                          </a:solidFill>
                        </a:defRPr>
                      </a:pPr>
                      <a:r>
                        <a:t>4 British Male Speakers</a:t>
                      </a:r>
                    </a:p>
                  </a:txBody>
                  <a:tcPr>
                    <a:solidFill>
                      <a:srgbClr val="F1F5F9"/>
                    </a:solidFill>
                  </a:tcPr>
                </a:tc>
                <a:tc>
                  <a:txBody>
                    <a:bodyPr/>
                    <a:lstStyle/>
                    <a:p>
                      <a:pPr>
                        <a:defRPr sz="1000">
                          <a:solidFill>
                            <a:srgbClr val="0F172A"/>
                          </a:solidFill>
                        </a:defRPr>
                      </a:pPr>
                      <a:r>
                        <a:t>7 Classes (Neutral, Anger, Disgust, Fear, Happiness, Sadness, Surprise)</a:t>
                      </a:r>
                    </a:p>
                  </a:txBody>
                  <a:tcPr>
                    <a:solidFill>
                      <a:srgbClr val="F1F5F9"/>
                    </a:solidFill>
                  </a:tcPr>
                </a:tc>
                <a:tc>
                  <a:txBody>
                    <a:bodyPr/>
                    <a:lstStyle/>
                    <a:p>
                      <a:pPr>
                        <a:defRPr sz="1000">
                          <a:solidFill>
                            <a:srgbClr val="0F172A"/>
                          </a:solidFill>
                        </a:defRPr>
                      </a:pPr>
                      <a:r>
                        <a:t>44,100 -&gt; 22,050 Hz</a:t>
                      </a:r>
                    </a:p>
                  </a:txBody>
                  <a:tcPr>
                    <a:solidFill>
                      <a:srgbClr val="F1F5F9"/>
                    </a:solidFill>
                  </a:tcPr>
                </a:tc>
                <a:extLst>
                  <a:ext uri="{0D108BD9-81ED-4DB2-BD59-A6C34878D82A}">
                    <a16:rowId xmlns:a16="http://schemas.microsoft.com/office/drawing/2014/main" val="10002"/>
                  </a:ext>
                </a:extLst>
              </a:tr>
              <a:tr h="411480">
                <a:tc>
                  <a:txBody>
                    <a:bodyPr/>
                    <a:lstStyle/>
                    <a:p>
                      <a:pPr>
                        <a:defRPr sz="1000">
                          <a:solidFill>
                            <a:srgbClr val="0F172A"/>
                          </a:solidFill>
                        </a:defRPr>
                      </a:pPr>
                      <a:r>
                        <a:t>EMO-DB (Evaluation)</a:t>
                      </a:r>
                    </a:p>
                  </a:txBody>
                  <a:tcPr>
                    <a:solidFill>
                      <a:srgbClr val="FFFFFF"/>
                    </a:solidFill>
                  </a:tcPr>
                </a:tc>
                <a:tc>
                  <a:txBody>
                    <a:bodyPr/>
                    <a:lstStyle/>
                    <a:p>
                      <a:pPr>
                        <a:defRPr sz="1000">
                          <a:solidFill>
                            <a:srgbClr val="0F172A"/>
                          </a:solidFill>
                        </a:defRPr>
                      </a:pPr>
                      <a:r>
                        <a:t>535 clips</a:t>
                      </a:r>
                    </a:p>
                  </a:txBody>
                  <a:tcPr>
                    <a:solidFill>
                      <a:srgbClr val="FFFFFF"/>
                    </a:solidFill>
                  </a:tcPr>
                </a:tc>
                <a:tc>
                  <a:txBody>
                    <a:bodyPr/>
                    <a:lstStyle/>
                    <a:p>
                      <a:pPr>
                        <a:defRPr sz="1000">
                          <a:solidFill>
                            <a:srgbClr val="0F172A"/>
                          </a:solidFill>
                        </a:defRPr>
                      </a:pPr>
                      <a:r>
                        <a:t>10 German Actors (5M, 5F)</a:t>
                      </a:r>
                    </a:p>
                  </a:txBody>
                  <a:tcPr>
                    <a:solidFill>
                      <a:srgbClr val="FFFFFF"/>
                    </a:solidFill>
                  </a:tcPr>
                </a:tc>
                <a:tc>
                  <a:txBody>
                    <a:bodyPr/>
                    <a:lstStyle/>
                    <a:p>
                      <a:pPr>
                        <a:defRPr sz="1000">
                          <a:solidFill>
                            <a:srgbClr val="0F172A"/>
                          </a:solidFill>
                        </a:defRPr>
                      </a:pPr>
                      <a:r>
                        <a:t>7 Classes (Anger, Boredom, Disgust, Fear, Happiness, Sadness, Neutral)</a:t>
                      </a:r>
                    </a:p>
                  </a:txBody>
                  <a:tcPr>
                    <a:solidFill>
                      <a:srgbClr val="FFFFFF"/>
                    </a:solidFill>
                  </a:tcPr>
                </a:tc>
                <a:tc>
                  <a:txBody>
                    <a:bodyPr/>
                    <a:lstStyle/>
                    <a:p>
                      <a:pPr>
                        <a:defRPr sz="1000">
                          <a:solidFill>
                            <a:srgbClr val="0F172A"/>
                          </a:solidFill>
                        </a:defRPr>
                      </a:pPr>
                      <a:r>
                        <a:rPr dirty="0"/>
                        <a:t>16,000 -&gt; 22,050 Hz</a:t>
                      </a:r>
                    </a:p>
                  </a:txBody>
                  <a:tcPr>
                    <a:solidFill>
                      <a:srgbClr val="FFFFFF"/>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731520" y="3566160"/>
            <a:ext cx="5120640" cy="283464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0284C7"/>
                </a:solidFill>
              </a:defRPr>
            </a:pPr>
            <a:r>
              <a:rPr>
                <a:solidFill>
                  <a:schemeClr val="tx1"/>
                </a:solidFill>
              </a:rPr>
              <a:t>ACOUSTIC PREPROCESSING PIPELINE</a:t>
            </a:r>
          </a:p>
          <a:p>
            <a:pPr>
              <a:defRPr sz="1050">
                <a:solidFill>
                  <a:srgbClr val="475569"/>
                </a:solidFill>
              </a:defRPr>
            </a:pPr>
            <a:r>
              <a:rPr sz="1400">
                <a:solidFill>
                  <a:schemeClr val="tx1"/>
                </a:solidFill>
              </a:rPr>
              <a:t>* Standardized Audio Rate: Resampled all incoming raw audio to exactly 22,050 Hz mono.</a:t>
            </a:r>
          </a:p>
          <a:p>
            <a:pPr>
              <a:defRPr sz="1050">
                <a:solidFill>
                  <a:srgbClr val="475569"/>
                </a:solidFill>
              </a:defRPr>
            </a:pPr>
            <a:r>
              <a:rPr sz="1400">
                <a:solidFill>
                  <a:schemeClr val="tx1"/>
                </a:solidFill>
              </a:rPr>
              <a:t>* Pre-emphasis Filtering: y[t] = x[t] - 0.97*x[t-1] to amplify high-frequency speech formants.</a:t>
            </a:r>
          </a:p>
          <a:p>
            <a:pPr>
              <a:defRPr sz="1050">
                <a:solidFill>
                  <a:srgbClr val="475569"/>
                </a:solidFill>
              </a:defRPr>
            </a:pPr>
            <a:r>
              <a:rPr sz="1400">
                <a:solidFill>
                  <a:schemeClr val="tx1"/>
                </a:solidFill>
              </a:rPr>
              <a:t>* Top-dB Silence Trimming: Librosa 20 dB threshold to eliminate ambient silence before speech onset.</a:t>
            </a:r>
          </a:p>
          <a:p>
            <a:pPr>
              <a:defRPr sz="1050">
                <a:solidFill>
                  <a:srgbClr val="475569"/>
                </a:solidFill>
              </a:defRPr>
            </a:pPr>
            <a:r>
              <a:rPr sz="1400">
                <a:solidFill>
                  <a:schemeClr val="tx1"/>
                </a:solidFill>
              </a:rPr>
              <a:t>* Length Normalization: Fixed 3.0 second duration (L = 66,150 samples) with zero-padding.</a:t>
            </a:r>
          </a:p>
        </p:txBody>
      </p:sp>
      <p:sp>
        <p:nvSpPr>
          <p:cNvPr id="7" name="Rounded Rectangle 6"/>
          <p:cNvSpPr/>
          <p:nvPr/>
        </p:nvSpPr>
        <p:spPr>
          <a:xfrm>
            <a:off x="6217920" y="3566160"/>
            <a:ext cx="5212080" cy="283464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2563EB"/>
                </a:solidFill>
              </a:defRPr>
            </a:pPr>
            <a:r>
              <a:rPr>
                <a:solidFill>
                  <a:schemeClr val="tx1"/>
                </a:solidFill>
              </a:rPr>
              <a:t>LABEL VERIFICATION &amp; LEAKAGE-FREE SPLITS</a:t>
            </a:r>
          </a:p>
          <a:p>
            <a:pPr>
              <a:defRPr sz="1050">
                <a:solidFill>
                  <a:srgbClr val="475569"/>
                </a:solidFill>
              </a:defRPr>
            </a:pPr>
            <a:r>
              <a:rPr sz="1400">
                <a:solidFill>
                  <a:schemeClr val="tx1"/>
                </a:solidFill>
              </a:rPr>
              <a:t>* Class Imbalance Resolved: In RAVDESS, Neutral has 96 samples (only normal intensity), whereas all 7 other emotions have 192 samples (normal + strong). Total = 1,440 clips.</a:t>
            </a:r>
          </a:p>
          <a:p>
            <a:pPr>
              <a:defRPr sz="1050">
                <a:solidFill>
                  <a:srgbClr val="475569"/>
                </a:solidFill>
              </a:defRPr>
            </a:pPr>
            <a:r>
              <a:rPr sz="1400">
                <a:solidFill>
                  <a:schemeClr val="tx1"/>
                </a:solidFill>
              </a:rPr>
              <a:t>* Stratified 10-Fold Partitioning (Protocol A): Preserves exact class ratio across all 10 folds, ensuring zero fold bias.</a:t>
            </a:r>
          </a:p>
          <a:p>
            <a:pPr>
              <a:defRPr sz="1050">
                <a:solidFill>
                  <a:srgbClr val="475569"/>
                </a:solidFill>
              </a:defRPr>
            </a:pPr>
            <a:r>
              <a:rPr sz="1400">
                <a:solidFill>
                  <a:schemeClr val="tx1"/>
                </a:solidFill>
              </a:rPr>
              <a:t>* GroupKFold by Actor ID (Protocol B): Partitioned 24 actors into 6 unseen groups for strict speaker-independent validation.</a:t>
            </a:r>
          </a:p>
          <a:p>
            <a:pPr>
              <a:defRPr sz="1050">
                <a:solidFill>
                  <a:srgbClr val="475569"/>
                </a:solidFill>
              </a:defRPr>
            </a:pPr>
            <a:r>
              <a:rPr sz="1400">
                <a:solidFill>
                  <a:schemeClr val="tx1"/>
                </a:solidFill>
              </a:rPr>
              <a:t>* Zero-Leakage Scaler Discipline: StandardScalers fitted strictly on training folds and transformed on test folds.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solidFill>
                <a:schemeClr val="tx1"/>
              </a:solidFill>
            </a:endParaRPr>
          </a:p>
        </p:txBody>
      </p:sp>
      <p:sp>
        <p:nvSpPr>
          <p:cNvPr id="3" name="Rounded Rectangle 2"/>
          <p:cNvSpPr/>
          <p:nvPr/>
        </p:nvSpPr>
        <p:spPr>
          <a:xfrm>
            <a:off x="731520" y="365760"/>
            <a:ext cx="4114800" cy="34747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wrap="square" lIns="137160" tIns="36576" rtlCol="0" anchor="ctr"/>
          <a:lstStyle/>
          <a:p>
            <a:pPr algn="ctr">
              <a:defRPr sz="1100" b="1">
                <a:solidFill>
                  <a:srgbClr val="FFFFFF"/>
                </a:solidFill>
              </a:defRPr>
            </a:pPr>
            <a:r>
              <a:rPr sz="1050">
                <a:solidFill>
                  <a:schemeClr val="tx1"/>
                </a:solidFill>
              </a:rPr>
              <a:t>PHASE 2: ARCHITECTURE &amp; PIPELINE  |  PRESENTER: ANSHUMAN</a:t>
            </a:r>
          </a:p>
        </p:txBody>
      </p:sp>
      <p:sp>
        <p:nvSpPr>
          <p:cNvPr id="4" name="TextBox 3"/>
          <p:cNvSpPr txBox="1"/>
          <p:nvPr/>
        </p:nvSpPr>
        <p:spPr>
          <a:xfrm>
            <a:off x="731520" y="777240"/>
            <a:ext cx="10698480" cy="353943"/>
          </a:xfrm>
          <a:prstGeom prst="rect">
            <a:avLst/>
          </a:prstGeom>
          <a:noFill/>
        </p:spPr>
        <p:txBody>
          <a:bodyPr wrap="square" lIns="0" tIns="0">
            <a:spAutoFit/>
          </a:bodyPr>
          <a:lstStyle/>
          <a:p>
            <a:pPr>
              <a:defRPr sz="2200" b="1">
                <a:solidFill>
                  <a:srgbClr val="0F172A"/>
                </a:solidFill>
              </a:defRPr>
            </a:pPr>
            <a:r>
              <a:rPr sz="2000"/>
              <a:t>Phase 2: 217-Dimensional Multi-Feature Acoustic Representation</a:t>
            </a:r>
          </a:p>
        </p:txBody>
      </p:sp>
      <p:sp>
        <p:nvSpPr>
          <p:cNvPr id="5" name="Rounded Rectangle 4"/>
          <p:cNvSpPr/>
          <p:nvPr/>
        </p:nvSpPr>
        <p:spPr>
          <a:xfrm>
            <a:off x="731520" y="1645920"/>
            <a:ext cx="2011680" cy="3291840"/>
          </a:xfrm>
          <a:prstGeom prst="roundRect">
            <a:avLst/>
          </a:prstGeom>
          <a:solidFill>
            <a:srgbClr val="F1F5F9"/>
          </a:solidFill>
          <a:ln>
            <a:solidFill>
              <a:srgbClr val="7C3AE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7C3AED"/>
                </a:solidFill>
              </a:defRPr>
            </a:pPr>
            <a:r>
              <a:rPr sz="1200" dirty="0">
                <a:solidFill>
                  <a:schemeClr val="tx1"/>
                </a:solidFill>
              </a:rPr>
              <a:t>40 MFCCs</a:t>
            </a:r>
          </a:p>
          <a:p>
            <a:pPr>
              <a:defRPr sz="1000" b="1">
                <a:solidFill>
                  <a:srgbClr val="0F172A"/>
                </a:solidFill>
              </a:defRPr>
            </a:pPr>
            <a:r>
              <a:rPr sz="900" dirty="0">
                <a:solidFill>
                  <a:schemeClr val="tx1"/>
                </a:solidFill>
              </a:rPr>
              <a:t>Mel-Frequency Cepstral Coefficients</a:t>
            </a:r>
          </a:p>
          <a:p>
            <a:br>
              <a:rPr sz="1600" dirty="0">
                <a:solidFill>
                  <a:schemeClr val="tx1"/>
                </a:solidFill>
              </a:rPr>
            </a:br>
            <a:r>
              <a:rPr sz="1600" dirty="0">
                <a:solidFill>
                  <a:schemeClr val="tx1"/>
                </a:solidFill>
              </a:rPr>
              <a:t>Captures vocal tract geometry and spectral envelope shape. Standard 13 MFCCs miss emotional nuance; 40 coefficients capture high-order harmonic timbre.</a:t>
            </a:r>
          </a:p>
        </p:txBody>
      </p:sp>
      <p:sp>
        <p:nvSpPr>
          <p:cNvPr id="6" name="Rounded Rectangle 5"/>
          <p:cNvSpPr/>
          <p:nvPr/>
        </p:nvSpPr>
        <p:spPr>
          <a:xfrm>
            <a:off x="2926080" y="1645920"/>
            <a:ext cx="2011680" cy="3291840"/>
          </a:xfrm>
          <a:prstGeom prst="roundRect">
            <a:avLst/>
          </a:prstGeom>
          <a:solidFill>
            <a:srgbClr val="F1F5F9"/>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10B981"/>
                </a:solidFill>
              </a:defRPr>
            </a:pPr>
            <a:r>
              <a:rPr sz="1200" dirty="0">
                <a:solidFill>
                  <a:schemeClr val="tx1"/>
                </a:solidFill>
              </a:rPr>
              <a:t>12 Chroma STFT</a:t>
            </a:r>
          </a:p>
          <a:p>
            <a:pPr>
              <a:defRPr sz="1000" b="1">
                <a:solidFill>
                  <a:srgbClr val="0F172A"/>
                </a:solidFill>
              </a:defRPr>
            </a:pPr>
            <a:r>
              <a:rPr sz="900" dirty="0">
                <a:solidFill>
                  <a:schemeClr val="tx1"/>
                </a:solidFill>
              </a:rPr>
              <a:t>12-Pitch Class Profiles</a:t>
            </a:r>
          </a:p>
          <a:p>
            <a:br>
              <a:rPr sz="1600" dirty="0">
                <a:solidFill>
                  <a:schemeClr val="tx1"/>
                </a:solidFill>
              </a:rPr>
            </a:br>
            <a:r>
              <a:rPr sz="1600" dirty="0">
                <a:solidFill>
                  <a:schemeClr val="tx1"/>
                </a:solidFill>
              </a:rPr>
              <a:t>Projects spectral energy into 12 semitone pitch classes. Captures musical pitch drift, melodic intonation, and harmonic structure across emotions.</a:t>
            </a:r>
          </a:p>
        </p:txBody>
      </p:sp>
      <p:sp>
        <p:nvSpPr>
          <p:cNvPr id="7" name="Rounded Rectangle 6"/>
          <p:cNvSpPr/>
          <p:nvPr/>
        </p:nvSpPr>
        <p:spPr>
          <a:xfrm>
            <a:off x="5120640" y="1645920"/>
            <a:ext cx="2011680" cy="3291840"/>
          </a:xfrm>
          <a:prstGeom prst="roundRect">
            <a:avLst/>
          </a:prstGeom>
          <a:solidFill>
            <a:srgbClr val="F1F5F9"/>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2563EB"/>
                </a:solidFill>
              </a:defRPr>
            </a:pPr>
            <a:r>
              <a:rPr sz="1200" dirty="0">
                <a:solidFill>
                  <a:schemeClr val="tx1"/>
                </a:solidFill>
              </a:rPr>
              <a:t>128 Mel Spectrogram</a:t>
            </a:r>
          </a:p>
          <a:p>
            <a:pPr>
              <a:defRPr sz="1000" b="1">
                <a:solidFill>
                  <a:srgbClr val="0F172A"/>
                </a:solidFill>
              </a:defRPr>
            </a:pPr>
            <a:r>
              <a:rPr sz="900" dirty="0">
                <a:solidFill>
                  <a:schemeClr val="tx1"/>
                </a:solidFill>
              </a:rPr>
              <a:t>Perceptually-Scaled Frequency Bands</a:t>
            </a:r>
          </a:p>
          <a:p>
            <a:br>
              <a:rPr sz="1600" dirty="0">
                <a:solidFill>
                  <a:schemeClr val="tx1"/>
                </a:solidFill>
              </a:rPr>
            </a:br>
            <a:r>
              <a:rPr sz="1600" dirty="0">
                <a:solidFill>
                  <a:schemeClr val="tx1"/>
                </a:solidFill>
              </a:rPr>
              <a:t>Non-linear </a:t>
            </a:r>
            <a:r>
              <a:rPr sz="1600" dirty="0" err="1">
                <a:solidFill>
                  <a:schemeClr val="tx1"/>
                </a:solidFill>
              </a:rPr>
              <a:t>filterbank</a:t>
            </a:r>
            <a:r>
              <a:rPr sz="1600" dirty="0">
                <a:solidFill>
                  <a:schemeClr val="tx1"/>
                </a:solidFill>
              </a:rPr>
              <a:t> matching human auditory perception. Spans fine-grained energy distribution from low-frequency pitch to high-frequency bursts.</a:t>
            </a:r>
          </a:p>
        </p:txBody>
      </p:sp>
      <p:sp>
        <p:nvSpPr>
          <p:cNvPr id="8" name="Rounded Rectangle 7"/>
          <p:cNvSpPr/>
          <p:nvPr/>
        </p:nvSpPr>
        <p:spPr>
          <a:xfrm>
            <a:off x="7315199" y="1645920"/>
            <a:ext cx="2011680" cy="3291840"/>
          </a:xfrm>
          <a:prstGeom prst="roundRect">
            <a:avLst/>
          </a:prstGeom>
          <a:solidFill>
            <a:srgbClr val="F1F5F9"/>
          </a:solidFill>
          <a:ln>
            <a:solidFill>
              <a:srgbClr val="D9770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D97706"/>
                </a:solidFill>
              </a:defRPr>
            </a:pPr>
            <a:r>
              <a:rPr sz="1200" dirty="0">
                <a:solidFill>
                  <a:schemeClr val="tx1"/>
                </a:solidFill>
              </a:rPr>
              <a:t>7 Spectral Contrast</a:t>
            </a:r>
          </a:p>
          <a:p>
            <a:pPr>
              <a:defRPr sz="1000" b="1">
                <a:solidFill>
                  <a:srgbClr val="0F172A"/>
                </a:solidFill>
              </a:defRPr>
            </a:pPr>
            <a:r>
              <a:rPr sz="900" dirty="0">
                <a:solidFill>
                  <a:schemeClr val="tx1"/>
                </a:solidFill>
              </a:rPr>
              <a:t>Harmonic Peak vs. Valley Energy</a:t>
            </a:r>
          </a:p>
          <a:p>
            <a:br>
              <a:rPr sz="1600" dirty="0">
                <a:solidFill>
                  <a:schemeClr val="tx1"/>
                </a:solidFill>
              </a:rPr>
            </a:br>
            <a:r>
              <a:rPr sz="1600" dirty="0">
                <a:solidFill>
                  <a:schemeClr val="tx1"/>
                </a:solidFill>
              </a:rPr>
              <a:t>Measures the difference between spectral peaks and valleys across 7 sub-bands. Corrected </a:t>
            </a:r>
            <a:r>
              <a:rPr sz="1600" dirty="0" err="1">
                <a:solidFill>
                  <a:schemeClr val="tx1"/>
                </a:solidFill>
              </a:rPr>
              <a:t>f_min</a:t>
            </a:r>
            <a:r>
              <a:rPr sz="1600" dirty="0">
                <a:solidFill>
                  <a:schemeClr val="tx1"/>
                </a:solidFill>
              </a:rPr>
              <a:t>=100 Hz to respect Nyquist boundary at 22.05 kHz.</a:t>
            </a:r>
          </a:p>
        </p:txBody>
      </p:sp>
      <p:sp>
        <p:nvSpPr>
          <p:cNvPr id="9" name="Rounded Rectangle 8"/>
          <p:cNvSpPr/>
          <p:nvPr/>
        </p:nvSpPr>
        <p:spPr>
          <a:xfrm>
            <a:off x="9703836" y="1645920"/>
            <a:ext cx="1817603" cy="3291840"/>
          </a:xfrm>
          <a:prstGeom prst="roundRect">
            <a:avLst/>
          </a:prstGeom>
          <a:solidFill>
            <a:srgbClr val="F1F5F9"/>
          </a:solidFill>
          <a:ln>
            <a:solidFill>
              <a:srgbClr val="DC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DC2626"/>
                </a:solidFill>
              </a:defRPr>
            </a:pPr>
            <a:r>
              <a:rPr sz="1100" dirty="0">
                <a:solidFill>
                  <a:schemeClr val="tx1"/>
                </a:solidFill>
              </a:rPr>
              <a:t>30 Tonality (Tonal Centroid)</a:t>
            </a:r>
          </a:p>
          <a:p>
            <a:pPr>
              <a:defRPr sz="1000" b="1">
                <a:solidFill>
                  <a:srgbClr val="0F172A"/>
                </a:solidFill>
              </a:defRPr>
            </a:pPr>
            <a:r>
              <a:rPr sz="800" dirty="0">
                <a:solidFill>
                  <a:schemeClr val="tx1"/>
                </a:solidFill>
              </a:rPr>
              <a:t>Harmonic Tension &amp; Valence Vectors</a:t>
            </a:r>
          </a:p>
          <a:p>
            <a:br>
              <a:rPr sz="1400" dirty="0">
                <a:solidFill>
                  <a:schemeClr val="tx1"/>
                </a:solidFill>
              </a:rPr>
            </a:br>
            <a:r>
              <a:rPr sz="1400" dirty="0">
                <a:solidFill>
                  <a:schemeClr val="tx1"/>
                </a:solidFill>
              </a:rPr>
              <a:t>Estimates 6-dimensional tonal centroid features across 5 frame summaries. Detects harmonic tension shifts associated with valence changes (e.g. Happy vs. Sad).</a:t>
            </a:r>
          </a:p>
        </p:txBody>
      </p:sp>
      <p:sp>
        <p:nvSpPr>
          <p:cNvPr id="10" name="Rounded Rectangle 9"/>
          <p:cNvSpPr/>
          <p:nvPr/>
        </p:nvSpPr>
        <p:spPr>
          <a:xfrm>
            <a:off x="731520" y="5120640"/>
            <a:ext cx="10698480" cy="1188720"/>
          </a:xfrm>
          <a:prstGeom prst="roundRect">
            <a:avLst/>
          </a:prstGeom>
          <a:solidFill>
            <a:srgbClr val="F5F3FF"/>
          </a:solidFill>
          <a:ln>
            <a:solidFill>
              <a:srgbClr val="7C3AE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7C3AED"/>
                </a:solidFill>
              </a:defRPr>
            </a:pPr>
            <a:r>
              <a:rPr sz="1200">
                <a:solidFill>
                  <a:schemeClr val="tx1"/>
                </a:solidFill>
              </a:rPr>
              <a:t>TOTAL FEATURE VECTOR: 40 + 12 + 128 + 7 + 30 = 217 ACOUSTIC DIMENSIONS PER SAMPLE</a:t>
            </a:r>
          </a:p>
          <a:p>
            <a:pPr>
              <a:defRPr sz="1100">
                <a:solidFill>
                  <a:srgbClr val="0F172A"/>
                </a:solidFill>
              </a:defRPr>
            </a:pPr>
            <a:r>
              <a:rPr sz="1050">
                <a:solidFill>
                  <a:schemeClr val="tx1"/>
                </a:solidFill>
              </a:rPr>
              <a:t>Mathematical Correction: The original paper specified f_min=200 Hz with 7 octave bands, which mathematically exceeds the 11,025 Hz Nyquist frequency at 22,050 Hz sampling rate. We corrected f_min to 100 Hz, preserving exact valid 7-band filter coverage without frequency aliasing.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3" name="Rounded Rectangle 2"/>
          <p:cNvSpPr/>
          <p:nvPr/>
        </p:nvSpPr>
        <p:spPr>
          <a:xfrm>
            <a:off x="731520" y="365760"/>
            <a:ext cx="4114800" cy="34747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wrap="square" lIns="137160" tIns="36576" rtlCol="0" anchor="ctr"/>
          <a:lstStyle/>
          <a:p>
            <a:pPr algn="ctr">
              <a:defRPr sz="1100" b="1">
                <a:solidFill>
                  <a:srgbClr val="FFFFFF"/>
                </a:solidFill>
              </a:defRPr>
            </a:pPr>
            <a:r>
              <a:rPr>
                <a:solidFill>
                  <a:schemeClr val="tx1"/>
                </a:solidFill>
              </a:rPr>
              <a:t>PHASE 2: ARCHITECTURE &amp; PIPELINE  |  PRESENTER: ANSHUMAN</a:t>
            </a:r>
          </a:p>
        </p:txBody>
      </p:sp>
      <p:sp>
        <p:nvSpPr>
          <p:cNvPr id="4" name="TextBox 3"/>
          <p:cNvSpPr txBox="1"/>
          <p:nvPr/>
        </p:nvSpPr>
        <p:spPr>
          <a:xfrm>
            <a:off x="731520" y="777240"/>
            <a:ext cx="10698480" cy="384721"/>
          </a:xfrm>
          <a:prstGeom prst="rect">
            <a:avLst/>
          </a:prstGeom>
          <a:noFill/>
        </p:spPr>
        <p:txBody>
          <a:bodyPr wrap="square" lIns="0" tIns="0">
            <a:spAutoFit/>
          </a:bodyPr>
          <a:lstStyle/>
          <a:p>
            <a:pPr>
              <a:defRPr sz="2200" b="1">
                <a:solidFill>
                  <a:srgbClr val="0F172A"/>
                </a:solidFill>
              </a:defRPr>
            </a:pPr>
            <a:r>
              <a:t>Phase 2: Leakage-Free Audio Data Augmentation</a:t>
            </a:r>
          </a:p>
        </p:txBody>
      </p:sp>
      <p:sp>
        <p:nvSpPr>
          <p:cNvPr id="5" name="Rounded Rectangle 4"/>
          <p:cNvSpPr/>
          <p:nvPr/>
        </p:nvSpPr>
        <p:spPr>
          <a:xfrm>
            <a:off x="731520" y="1645920"/>
            <a:ext cx="3383280" cy="2926080"/>
          </a:xfrm>
          <a:prstGeom prst="roundRect">
            <a:avLst/>
          </a:prstGeom>
          <a:solidFill>
            <a:srgbClr val="F1F5F9"/>
          </a:solidFill>
          <a:ln>
            <a:solidFill>
              <a:srgbClr val="7C3AE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7C3AED"/>
                </a:solidFill>
              </a:defRPr>
            </a:pPr>
            <a:r>
              <a:rPr>
                <a:solidFill>
                  <a:schemeClr val="tx1"/>
                </a:solidFill>
              </a:rPr>
              <a:t>Pitch Shifting (PS)</a:t>
            </a:r>
          </a:p>
          <a:p>
            <a:pPr>
              <a:defRPr sz="1100" b="1">
                <a:solidFill>
                  <a:srgbClr val="0F172A"/>
                </a:solidFill>
              </a:defRPr>
            </a:pPr>
            <a:r>
              <a:rPr>
                <a:solidFill>
                  <a:schemeClr val="tx1"/>
                </a:solidFill>
              </a:rPr>
              <a:t>Range: +- 2 Semitones</a:t>
            </a:r>
          </a:p>
          <a:p>
            <a:br>
              <a:rPr>
                <a:solidFill>
                  <a:schemeClr val="tx1"/>
                </a:solidFill>
              </a:rPr>
            </a:br>
            <a:r>
              <a:rPr>
                <a:solidFill>
                  <a:schemeClr val="tx1"/>
                </a:solidFill>
              </a:rPr>
              <a:t>Simulates variation in vocal cord length, physiological differences, and pitch elevation without altering speech tempo.</a:t>
            </a:r>
          </a:p>
        </p:txBody>
      </p:sp>
      <p:sp>
        <p:nvSpPr>
          <p:cNvPr id="6" name="Rounded Rectangle 5"/>
          <p:cNvSpPr/>
          <p:nvPr/>
        </p:nvSpPr>
        <p:spPr>
          <a:xfrm>
            <a:off x="4389120" y="1645920"/>
            <a:ext cx="3383280" cy="2926080"/>
          </a:xfrm>
          <a:prstGeom prst="roundRect">
            <a:avLst/>
          </a:prstGeom>
          <a:solidFill>
            <a:srgbClr val="F1F5F9"/>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10B981"/>
                </a:solidFill>
              </a:defRPr>
            </a:pPr>
            <a:r>
              <a:rPr>
                <a:solidFill>
                  <a:schemeClr val="tx1"/>
                </a:solidFill>
              </a:rPr>
              <a:t>Additive White Noise (AWGN)</a:t>
            </a:r>
          </a:p>
          <a:p>
            <a:pPr>
              <a:defRPr sz="1100" b="1">
                <a:solidFill>
                  <a:srgbClr val="0F172A"/>
                </a:solidFill>
              </a:defRPr>
            </a:pPr>
            <a:r>
              <a:rPr>
                <a:solidFill>
                  <a:schemeClr val="tx1"/>
                </a:solidFill>
              </a:rPr>
              <a:t>Range: SNR 15 dB - 20 dB</a:t>
            </a:r>
          </a:p>
          <a:p>
            <a:br>
              <a:rPr>
                <a:solidFill>
                  <a:schemeClr val="tx1"/>
                </a:solidFill>
              </a:rPr>
            </a:br>
            <a:r>
              <a:rPr>
                <a:solidFill>
                  <a:schemeClr val="tx1"/>
                </a:solidFill>
              </a:rPr>
              <a:t>Injects random Gaussian acoustic noise to make the model robust against diverse microphone qualities and room acoustics.</a:t>
            </a:r>
          </a:p>
        </p:txBody>
      </p:sp>
      <p:sp>
        <p:nvSpPr>
          <p:cNvPr id="7" name="Rounded Rectangle 6"/>
          <p:cNvSpPr/>
          <p:nvPr/>
        </p:nvSpPr>
        <p:spPr>
          <a:xfrm>
            <a:off x="8046720" y="1645920"/>
            <a:ext cx="3383280" cy="2926080"/>
          </a:xfrm>
          <a:prstGeom prst="roundRect">
            <a:avLst/>
          </a:prstGeom>
          <a:solidFill>
            <a:srgbClr val="F1F5F9"/>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2563EB"/>
                </a:solidFill>
              </a:defRPr>
            </a:pPr>
            <a:r>
              <a:rPr>
                <a:solidFill>
                  <a:schemeClr val="tx1"/>
                </a:solidFill>
              </a:rPr>
              <a:t>Time Stretching (TS)</a:t>
            </a:r>
          </a:p>
          <a:p>
            <a:pPr>
              <a:defRPr sz="1100" b="1">
                <a:solidFill>
                  <a:srgbClr val="0F172A"/>
                </a:solidFill>
              </a:defRPr>
            </a:pPr>
            <a:r>
              <a:rPr>
                <a:solidFill>
                  <a:schemeClr val="tx1"/>
                </a:solidFill>
              </a:rPr>
              <a:t>Range: 0.9x to 1.1x Tempo Factor</a:t>
            </a:r>
          </a:p>
          <a:p>
            <a:br>
              <a:rPr>
                <a:solidFill>
                  <a:schemeClr val="tx1"/>
                </a:solidFill>
              </a:rPr>
            </a:br>
            <a:r>
              <a:rPr>
                <a:solidFill>
                  <a:schemeClr val="tx1"/>
                </a:solidFill>
              </a:rPr>
              <a:t>Perturbs speech rate and phonetic duration without shifting fundamental pitch frequencies, mimicking excited vs. lethargic speech.</a:t>
            </a:r>
          </a:p>
        </p:txBody>
      </p:sp>
      <p:sp>
        <p:nvSpPr>
          <p:cNvPr id="8" name="Rounded Rectangle 7"/>
          <p:cNvSpPr/>
          <p:nvPr/>
        </p:nvSpPr>
        <p:spPr>
          <a:xfrm>
            <a:off x="731520" y="4754880"/>
            <a:ext cx="10698480" cy="1554480"/>
          </a:xfrm>
          <a:prstGeom prst="roundRect">
            <a:avLst/>
          </a:prstGeom>
          <a:solidFill>
            <a:srgbClr val="F1F5F9"/>
          </a:solidFill>
          <a:ln>
            <a:solidFill>
              <a:srgbClr val="DC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DC2626"/>
                </a:solidFill>
              </a:defRPr>
            </a:pPr>
            <a:r>
              <a:rPr>
                <a:solidFill>
                  <a:schemeClr val="tx1"/>
                </a:solidFill>
              </a:rPr>
              <a:t>CRITICAL METHODOLOGICAL DISCIPLINE: ZERO-LEAKAGE AUGMENTATION</a:t>
            </a:r>
          </a:p>
          <a:p>
            <a:pPr>
              <a:defRPr sz="1100">
                <a:solidFill>
                  <a:srgbClr val="0F172A"/>
                </a:solidFill>
              </a:defRPr>
            </a:pPr>
            <a:r>
              <a:rPr>
                <a:solidFill>
                  <a:schemeClr val="tx1"/>
                </a:solidFill>
              </a:rPr>
              <a:t>* Offline global augmentation before dataset splitting causes severe validation leakage because perturbed versions of the same utterance enter both train and test partitions.</a:t>
            </a:r>
            <a:br>
              <a:rPr>
                <a:solidFill>
                  <a:schemeClr val="tx1"/>
                </a:solidFill>
              </a:rPr>
            </a:br>
            <a:r>
              <a:rPr>
                <a:solidFill>
                  <a:schemeClr val="tx1"/>
                </a:solidFill>
              </a:rPr>
              <a:t>* In our pipeline, augmentations were applied dynamically ONLY to the 9 training folds during cross-validation iteration.</a:t>
            </a:r>
            <a:br>
              <a:rPr>
                <a:solidFill>
                  <a:schemeClr val="tx1"/>
                </a:solidFill>
              </a:rPr>
            </a:br>
            <a:r>
              <a:rPr>
                <a:solidFill>
                  <a:schemeClr val="tx1"/>
                </a:solidFill>
              </a:rPr>
              <a:t>* The validation fold was kept 100% clean and unaugmented, ensuring scientifically valid generalization scores.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3" name="Rounded Rectangle 2"/>
          <p:cNvSpPr/>
          <p:nvPr/>
        </p:nvSpPr>
        <p:spPr>
          <a:xfrm>
            <a:off x="731520" y="365760"/>
            <a:ext cx="4114800" cy="34747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wrap="square" lIns="137160" tIns="36576" rtlCol="0" anchor="ctr"/>
          <a:lstStyle/>
          <a:p>
            <a:pPr algn="ctr">
              <a:defRPr sz="1100" b="1">
                <a:solidFill>
                  <a:srgbClr val="FFFFFF"/>
                </a:solidFill>
              </a:defRPr>
            </a:pPr>
            <a:r>
              <a:rPr>
                <a:solidFill>
                  <a:schemeClr val="tx1"/>
                </a:solidFill>
              </a:rPr>
              <a:t>PHASE 2: ARCHITECTURE &amp; PIPELINE  |  PRESENTER: ANSHUMAN</a:t>
            </a:r>
          </a:p>
        </p:txBody>
      </p:sp>
      <p:sp>
        <p:nvSpPr>
          <p:cNvPr id="4" name="TextBox 3"/>
          <p:cNvSpPr txBox="1"/>
          <p:nvPr/>
        </p:nvSpPr>
        <p:spPr>
          <a:xfrm>
            <a:off x="731520" y="777240"/>
            <a:ext cx="10698480" cy="384721"/>
          </a:xfrm>
          <a:prstGeom prst="rect">
            <a:avLst/>
          </a:prstGeom>
          <a:noFill/>
        </p:spPr>
        <p:txBody>
          <a:bodyPr wrap="square" lIns="0" tIns="0">
            <a:spAutoFit/>
          </a:bodyPr>
          <a:lstStyle/>
          <a:p>
            <a:pPr>
              <a:defRPr sz="2200" b="1">
                <a:solidFill>
                  <a:srgbClr val="0F172A"/>
                </a:solidFill>
              </a:defRPr>
            </a:pPr>
            <a:r>
              <a:t>Phase 2: DCapsNet Architecture &amp; Margin Loss Formulation</a:t>
            </a:r>
          </a:p>
        </p:txBody>
      </p:sp>
      <p:sp>
        <p:nvSpPr>
          <p:cNvPr id="5" name="Rounded Rectangle 4"/>
          <p:cNvSpPr/>
          <p:nvPr/>
        </p:nvSpPr>
        <p:spPr>
          <a:xfrm>
            <a:off x="731520" y="1645920"/>
            <a:ext cx="5486400" cy="466344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7C3AED"/>
                </a:solidFill>
              </a:defRPr>
            </a:pPr>
            <a:r>
              <a:rPr>
                <a:solidFill>
                  <a:schemeClr val="tx1"/>
                </a:solidFill>
              </a:rPr>
              <a:t>LAYER SPECIFICATIONS (EXACT 1,225,472 PARAMETERS)</a:t>
            </a:r>
          </a:p>
          <a:p>
            <a:pPr>
              <a:defRPr sz="1000">
                <a:solidFill>
                  <a:srgbClr val="0F172A"/>
                </a:solidFill>
              </a:defRPr>
            </a:pPr>
            <a:r>
              <a:rPr>
                <a:solidFill>
                  <a:schemeClr val="tx1"/>
                </a:solidFill>
              </a:rPr>
              <a:t>* Input Representation: (217, 1) Acoustic Vector</a:t>
            </a:r>
          </a:p>
          <a:p>
            <a:pPr>
              <a:defRPr sz="1000">
                <a:solidFill>
                  <a:srgbClr val="0F172A"/>
                </a:solidFill>
              </a:defRPr>
            </a:pPr>
            <a:r>
              <a:rPr>
                <a:solidFill>
                  <a:schemeClr val="tx1"/>
                </a:solidFill>
              </a:rPr>
              <a:t>* Dilated Conv 1: 64 filters, kernel=3, dilation=1, ReLU (217, 64)</a:t>
            </a:r>
          </a:p>
          <a:p>
            <a:pPr>
              <a:defRPr sz="1000">
                <a:solidFill>
                  <a:srgbClr val="0F172A"/>
                </a:solidFill>
              </a:defRPr>
            </a:pPr>
            <a:r>
              <a:rPr>
                <a:solidFill>
                  <a:schemeClr val="tx1"/>
                </a:solidFill>
              </a:rPr>
              <a:t>* Dilated Conv 2: 128 filters, kernel=3, dilation=2, ReLU (217, 128)</a:t>
            </a:r>
          </a:p>
          <a:p>
            <a:pPr>
              <a:defRPr sz="1000">
                <a:solidFill>
                  <a:srgbClr val="0F172A"/>
                </a:solidFill>
              </a:defRPr>
            </a:pPr>
            <a:r>
              <a:rPr>
                <a:solidFill>
                  <a:schemeClr val="tx1"/>
                </a:solidFill>
              </a:rPr>
              <a:t>* Dilated Conv 3: 256 filters, kernel=3, dilation=4, ReLU (217, 256)</a:t>
            </a:r>
          </a:p>
          <a:p>
            <a:pPr>
              <a:defRPr sz="1000">
                <a:solidFill>
                  <a:srgbClr val="0F172A"/>
                </a:solidFill>
              </a:defRPr>
            </a:pPr>
            <a:r>
              <a:rPr>
                <a:solidFill>
                  <a:schemeClr val="tx1"/>
                </a:solidFill>
              </a:rPr>
              <a:t>* Dilated Conv 4: 128 filters, kernel=3, dilation=8, ReLU (217, 128)</a:t>
            </a:r>
          </a:p>
          <a:p>
            <a:pPr>
              <a:defRPr sz="1000">
                <a:solidFill>
                  <a:srgbClr val="0F172A"/>
                </a:solidFill>
              </a:defRPr>
            </a:pPr>
            <a:r>
              <a:rPr>
                <a:solidFill>
                  <a:schemeClr val="tx1"/>
                </a:solidFill>
              </a:rPr>
              <a:t>* Primary Capsules: Conv1D(256), reshaped to 32 channels of 8D vectors -&gt; (736, 8) capsules. Non-linear squashing activation.</a:t>
            </a:r>
          </a:p>
          <a:p>
            <a:pPr>
              <a:defRPr sz="1000">
                <a:solidFill>
                  <a:srgbClr val="0F172A"/>
                </a:solidFill>
              </a:defRPr>
            </a:pPr>
            <a:r>
              <a:rPr>
                <a:solidFill>
                  <a:schemeClr val="tx1"/>
                </a:solidFill>
              </a:rPr>
              <a:t>* Emotion Digit Capsules: 8 Class Capsules of 16D vectors via Dynamic Routing by Agreement (r=3 iterations).</a:t>
            </a:r>
          </a:p>
          <a:p>
            <a:pPr>
              <a:defRPr sz="1000">
                <a:solidFill>
                  <a:srgbClr val="0F172A"/>
                </a:solidFill>
              </a:defRPr>
            </a:pPr>
            <a:r>
              <a:rPr>
                <a:solidFill>
                  <a:schemeClr val="tx1"/>
                </a:solidFill>
              </a:rPr>
              <a:t>* Classification Output: L2-norm of each 16D capsule vector represents emotion probability. Prediction = argmax ||v_k||.</a:t>
            </a:r>
          </a:p>
        </p:txBody>
      </p:sp>
      <p:sp>
        <p:nvSpPr>
          <p:cNvPr id="6" name="Rounded Rectangle 5"/>
          <p:cNvSpPr/>
          <p:nvPr/>
        </p:nvSpPr>
        <p:spPr>
          <a:xfrm>
            <a:off x="6492240" y="1645920"/>
            <a:ext cx="4937760" cy="466344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2563EB"/>
                </a:solidFill>
              </a:defRPr>
            </a:pPr>
            <a:r>
              <a:rPr>
                <a:solidFill>
                  <a:schemeClr val="tx1"/>
                </a:solidFill>
              </a:rPr>
              <a:t>MATHEMATICAL FORMULATIONS</a:t>
            </a:r>
          </a:p>
          <a:p>
            <a:br>
              <a:rPr>
                <a:solidFill>
                  <a:schemeClr val="tx1"/>
                </a:solidFill>
              </a:rPr>
            </a:br>
            <a:r>
              <a:rPr>
                <a:solidFill>
                  <a:schemeClr val="tx1"/>
                </a:solidFill>
              </a:rPr>
              <a:t>* Receptive Field Expansion</a:t>
            </a:r>
          </a:p>
          <a:p>
            <a:pPr>
              <a:defRPr sz="1000">
                <a:solidFill>
                  <a:srgbClr val="475569"/>
                </a:solidFill>
              </a:defRPr>
            </a:pPr>
            <a:r>
              <a:rPr>
                <a:solidFill>
                  <a:schemeClr val="tx1"/>
                </a:solidFill>
              </a:rPr>
              <a:t>R = 1 + sum_{l=1}^4 (K_l - 1) * d_l = 1 + (2*1 + 2*2 + 2*4 + 2*8) = 31 feature bins. Captures wide-range temporal context without spatial downsampling.</a:t>
            </a:r>
          </a:p>
          <a:p>
            <a:br>
              <a:rPr>
                <a:solidFill>
                  <a:schemeClr val="tx1"/>
                </a:solidFill>
              </a:rPr>
            </a:br>
            <a:r>
              <a:rPr>
                <a:solidFill>
                  <a:schemeClr val="tx1"/>
                </a:solidFill>
              </a:rPr>
              <a:t>* Non-Linear Squashing Function</a:t>
            </a:r>
          </a:p>
          <a:p>
            <a:pPr>
              <a:defRPr sz="1000">
                <a:solidFill>
                  <a:srgbClr val="475569"/>
                </a:solidFill>
              </a:defRPr>
            </a:pPr>
            <a:r>
              <a:rPr>
                <a:solidFill>
                  <a:schemeClr val="tx1"/>
                </a:solidFill>
              </a:rPr>
              <a:t>v_j = (||s_j||^2 / (1 + ||s_j||^2)) * (s_j / ||s_j||)</a:t>
            </a:r>
            <a:br>
              <a:rPr>
                <a:solidFill>
                  <a:schemeClr val="tx1"/>
                </a:solidFill>
              </a:rPr>
            </a:br>
            <a:r>
              <a:rPr>
                <a:solidFill>
                  <a:schemeClr val="tx1"/>
                </a:solidFill>
              </a:rPr>
              <a:t>Ensures short vectors shrink towards 0 and long vectors saturate at unit norm (&lt; 1.0).</a:t>
            </a:r>
          </a:p>
          <a:p>
            <a:br>
              <a:rPr>
                <a:solidFill>
                  <a:schemeClr val="tx1"/>
                </a:solidFill>
              </a:rPr>
            </a:br>
            <a:r>
              <a:rPr>
                <a:solidFill>
                  <a:schemeClr val="tx1"/>
                </a:solidFill>
              </a:rPr>
              <a:t>* Multi-Class Margin Loss</a:t>
            </a:r>
          </a:p>
          <a:p>
            <a:pPr>
              <a:defRPr sz="1000">
                <a:solidFill>
                  <a:srgbClr val="475569"/>
                </a:solidFill>
              </a:defRPr>
            </a:pPr>
            <a:r>
              <a:rPr>
                <a:solidFill>
                  <a:schemeClr val="tx1"/>
                </a:solidFill>
              </a:rPr>
              <a:t>L_k = T_k * max(0, m+ - ||v_k||)^2 + lambda*(1 - T_k)*max(0, ||v_k|| - m-)^2</a:t>
            </a:r>
            <a:br>
              <a:rPr>
                <a:solidFill>
                  <a:schemeClr val="tx1"/>
                </a:solidFill>
              </a:rPr>
            </a:br>
            <a:r>
              <a:rPr>
                <a:solidFill>
                  <a:schemeClr val="tx1"/>
                </a:solidFill>
              </a:rPr>
              <a:t>Parameters: m+ = 0.9, m- = 0.1, lambda = 0.5. Strictly separates presence and absence of emotion classes in capsule vector space.</a:t>
            </a:r>
          </a:p>
          <a:p>
            <a:br>
              <a:rPr>
                <a:solidFill>
                  <a:schemeClr val="tx1"/>
                </a:solidFill>
              </a:rPr>
            </a:br>
            <a:r>
              <a:rPr>
                <a:solidFill>
                  <a:schemeClr val="tx1"/>
                </a:solidFill>
              </a:rPr>
              <a:t>* Architectural Verification</a:t>
            </a:r>
          </a:p>
          <a:p>
            <a:pPr>
              <a:defRPr sz="1000">
                <a:solidFill>
                  <a:srgbClr val="475569"/>
                </a:solidFill>
              </a:defRPr>
            </a:pPr>
            <a:r>
              <a:rPr>
                <a:solidFill>
                  <a:schemeClr val="tx1"/>
                </a:solidFill>
              </a:rPr>
              <a:t>Primary Capsule valid padding yields exactly 736 capsules and 163,968 parameters, verifying Table 5 of Jahangir et al.,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3" name="Rounded Rectangle 2"/>
          <p:cNvSpPr/>
          <p:nvPr/>
        </p:nvSpPr>
        <p:spPr>
          <a:xfrm>
            <a:off x="731520" y="365760"/>
            <a:ext cx="4114800" cy="34747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wrap="square" lIns="137160" tIns="36576" rtlCol="0" anchor="ctr"/>
          <a:lstStyle/>
          <a:p>
            <a:pPr algn="ctr">
              <a:defRPr sz="1100" b="1">
                <a:solidFill>
                  <a:srgbClr val="FFFFFF"/>
                </a:solidFill>
              </a:defRPr>
            </a:pPr>
            <a:r>
              <a:rPr>
                <a:solidFill>
                  <a:schemeClr val="tx1"/>
                </a:solidFill>
              </a:rPr>
              <a:t>PHASE 2: ARCHITECTURE &amp; PIPELINE  |  PRESENTER: ANSHUMAN</a:t>
            </a:r>
          </a:p>
        </p:txBody>
      </p:sp>
      <p:sp>
        <p:nvSpPr>
          <p:cNvPr id="4" name="TextBox 3"/>
          <p:cNvSpPr txBox="1"/>
          <p:nvPr/>
        </p:nvSpPr>
        <p:spPr>
          <a:xfrm>
            <a:off x="731520" y="777240"/>
            <a:ext cx="10698480" cy="384721"/>
          </a:xfrm>
          <a:prstGeom prst="rect">
            <a:avLst/>
          </a:prstGeom>
          <a:noFill/>
        </p:spPr>
        <p:txBody>
          <a:bodyPr wrap="square" lIns="0" tIns="0">
            <a:spAutoFit/>
          </a:bodyPr>
          <a:lstStyle/>
          <a:p>
            <a:pPr>
              <a:defRPr sz="2200" b="1">
                <a:solidFill>
                  <a:srgbClr val="0F172A"/>
                </a:solidFill>
              </a:defRPr>
            </a:pPr>
            <a:r>
              <a:t>Phase 2: Baseline Implementations &amp; Initial Cross-Validation</a:t>
            </a:r>
          </a:p>
        </p:txBody>
      </p:sp>
      <p:sp>
        <p:nvSpPr>
          <p:cNvPr id="5" name="Rounded Rectangle 4"/>
          <p:cNvSpPr/>
          <p:nvPr/>
        </p:nvSpPr>
        <p:spPr>
          <a:xfrm>
            <a:off x="731520" y="1645920"/>
            <a:ext cx="5120640" cy="466344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7C3AED"/>
                </a:solidFill>
              </a:defRPr>
            </a:pPr>
            <a:r>
              <a:rPr>
                <a:solidFill>
                  <a:schemeClr val="tx1"/>
                </a:solidFill>
              </a:rPr>
              <a:t>COMPARATIVE BASELINE ARCHITECTURES</a:t>
            </a:r>
          </a:p>
          <a:p>
            <a:br>
              <a:rPr>
                <a:solidFill>
                  <a:schemeClr val="tx1"/>
                </a:solidFill>
              </a:rPr>
            </a:br>
            <a:r>
              <a:rPr>
                <a:solidFill>
                  <a:schemeClr val="tx1"/>
                </a:solidFill>
              </a:rPr>
              <a:t>* 1D-CNN Baseline</a:t>
            </a:r>
          </a:p>
          <a:p>
            <a:pPr>
              <a:defRPr sz="1050">
                <a:solidFill>
                  <a:srgbClr val="475569"/>
                </a:solidFill>
              </a:defRPr>
            </a:pPr>
            <a:r>
              <a:rPr>
                <a:solidFill>
                  <a:schemeClr val="tx1"/>
                </a:solidFill>
              </a:rPr>
              <a:t>4 Conv1D layers (64, 128, 256, 128 filters), MaxPooling1D(2) after each block, Flatten, Dense(128), Dropout(0.3), Softmax(8). Represents conventional downsampling CNN approach (~412K parameters).</a:t>
            </a:r>
          </a:p>
          <a:p>
            <a:br>
              <a:rPr>
                <a:solidFill>
                  <a:schemeClr val="tx1"/>
                </a:solidFill>
              </a:rPr>
            </a:br>
            <a:r>
              <a:rPr>
                <a:solidFill>
                  <a:schemeClr val="tx1"/>
                </a:solidFill>
              </a:rPr>
              <a:t>* BiLSTM Baseline</a:t>
            </a:r>
          </a:p>
          <a:p>
            <a:pPr>
              <a:defRPr sz="1050">
                <a:solidFill>
                  <a:srgbClr val="475569"/>
                </a:solidFill>
              </a:defRPr>
            </a:pPr>
            <a:r>
              <a:rPr>
                <a:solidFill>
                  <a:schemeClr val="tx1"/>
                </a:solidFill>
              </a:rPr>
              <a:t>4 stacked Bidirectional LSTM layers (64 hidden units per direction), unrolled across 217 sequence steps, followed by Dense(128) and Softmax(8). Models sequential recurrence (~589K parameters).</a:t>
            </a:r>
          </a:p>
          <a:p>
            <a:br>
              <a:rPr>
                <a:solidFill>
                  <a:schemeClr val="tx1"/>
                </a:solidFill>
              </a:rPr>
            </a:br>
            <a:r>
              <a:rPr>
                <a:solidFill>
                  <a:schemeClr val="tx1"/>
                </a:solidFill>
              </a:rPr>
              <a:t>* Evaluation Condition</a:t>
            </a:r>
          </a:p>
          <a:p>
            <a:pPr>
              <a:defRPr sz="1050">
                <a:solidFill>
                  <a:srgbClr val="475569"/>
                </a:solidFill>
              </a:defRPr>
            </a:pPr>
            <a:r>
              <a:rPr>
                <a:solidFill>
                  <a:schemeClr val="tx1"/>
                </a:solidFill>
              </a:rPr>
              <a:t>Both baselines trained on identical 10-fold partitions and identical 217-D feature vectors to ensure 100% fair scientific comparison.</a:t>
            </a:r>
          </a:p>
        </p:txBody>
      </p:sp>
      <p:sp>
        <p:nvSpPr>
          <p:cNvPr id="6" name="Rounded Rectangle 5"/>
          <p:cNvSpPr/>
          <p:nvPr/>
        </p:nvSpPr>
        <p:spPr>
          <a:xfrm>
            <a:off x="6217920" y="1645920"/>
            <a:ext cx="5212080" cy="466344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DC2626"/>
                </a:solidFill>
              </a:defRPr>
            </a:pPr>
            <a:r>
              <a:rPr>
                <a:solidFill>
                  <a:schemeClr val="tx1"/>
                </a:solidFill>
              </a:rPr>
              <a:t>INITIAL BENCHMARK RUN &amp; HANDOFF TO ZEESHAN</a:t>
            </a:r>
          </a:p>
          <a:p>
            <a:br>
              <a:rPr>
                <a:solidFill>
                  <a:schemeClr val="tx1"/>
                </a:solidFill>
              </a:rPr>
            </a:br>
            <a:r>
              <a:rPr>
                <a:solidFill>
                  <a:schemeClr val="tx1"/>
                </a:solidFill>
              </a:rPr>
              <a:t>* Initial Benchmark Results</a:t>
            </a:r>
          </a:p>
          <a:p>
            <a:pPr>
              <a:defRPr sz="1050">
                <a:solidFill>
                  <a:srgbClr val="475569"/>
                </a:solidFill>
              </a:defRPr>
            </a:pPr>
            <a:r>
              <a:rPr>
                <a:solidFill>
                  <a:schemeClr val="tx1"/>
                </a:solidFill>
              </a:rPr>
              <a:t>Unoptimized DCapsNet achieved 54.10% mean CV accuracy, outperforming 1D-CNN (51.81%) and BiLSTM (51.39%).</a:t>
            </a:r>
          </a:p>
          <a:p>
            <a:br>
              <a:rPr>
                <a:solidFill>
                  <a:schemeClr val="tx1"/>
                </a:solidFill>
              </a:rPr>
            </a:br>
            <a:r>
              <a:rPr>
                <a:solidFill>
                  <a:schemeClr val="tx1"/>
                </a:solidFill>
              </a:rPr>
              <a:t>* Bottleneck 1: Learning Rate Saturation</a:t>
            </a:r>
          </a:p>
          <a:p>
            <a:pPr>
              <a:defRPr sz="1050">
                <a:solidFill>
                  <a:srgbClr val="475569"/>
                </a:solidFill>
              </a:defRPr>
            </a:pPr>
            <a:r>
              <a:rPr>
                <a:solidFill>
                  <a:schemeClr val="tx1"/>
                </a:solidFill>
              </a:rPr>
              <a:t>Fixed learning rate of 1e-3 caused early loss plateauing, trapping the model in sub-optimal local minima.</a:t>
            </a:r>
          </a:p>
          <a:p>
            <a:br>
              <a:rPr>
                <a:solidFill>
                  <a:schemeClr val="tx1"/>
                </a:solidFill>
              </a:rPr>
            </a:br>
            <a:r>
              <a:rPr>
                <a:solidFill>
                  <a:schemeClr val="tx1"/>
                </a:solidFill>
              </a:rPr>
              <a:t>* Bottleneck 2: High Cross-Fold Variance</a:t>
            </a:r>
          </a:p>
          <a:p>
            <a:pPr>
              <a:defRPr sz="1050">
                <a:solidFill>
                  <a:srgbClr val="475569"/>
                </a:solidFill>
              </a:defRPr>
            </a:pPr>
            <a:r>
              <a:rPr>
                <a:solidFill>
                  <a:schemeClr val="tx1"/>
                </a:solidFill>
              </a:rPr>
              <a:t>Initial runs exhibited high standard deviation (+- 5.8%), with fold accuracies swinging between 48% and 61%.</a:t>
            </a:r>
          </a:p>
          <a:p>
            <a:br>
              <a:rPr>
                <a:solidFill>
                  <a:schemeClr val="tx1"/>
                </a:solidFill>
              </a:rPr>
            </a:br>
            <a:r>
              <a:rPr>
                <a:solidFill>
                  <a:schemeClr val="tx1"/>
                </a:solidFill>
              </a:rPr>
              <a:t>* Bottleneck 3: BiLSTM Latency</a:t>
            </a:r>
          </a:p>
          <a:p>
            <a:pPr>
              <a:defRPr sz="1050">
                <a:solidFill>
                  <a:srgbClr val="475569"/>
                </a:solidFill>
              </a:defRPr>
            </a:pPr>
            <a:r>
              <a:rPr>
                <a:solidFill>
                  <a:schemeClr val="tx1"/>
                </a:solidFill>
              </a:rPr>
              <a:t>BiLSTM required 24.67 ms/sample latency (~31 min/fold on CPU) due to unrolled recurrent states, making it impractical for low-latency edge deployment.</a:t>
            </a:r>
          </a:p>
          <a:p>
            <a:br>
              <a:rPr>
                <a:solidFill>
                  <a:schemeClr val="tx1"/>
                </a:solidFill>
              </a:rPr>
            </a:br>
            <a:r>
              <a:rPr>
                <a:solidFill>
                  <a:schemeClr val="tx1"/>
                </a:solidFill>
              </a:rPr>
              <a:t>* Engineering Handoff</a:t>
            </a:r>
          </a:p>
          <a:p>
            <a:pPr>
              <a:defRPr sz="1050">
                <a:solidFill>
                  <a:srgbClr val="475569"/>
                </a:solidFill>
              </a:defRPr>
            </a:pPr>
            <a:r>
              <a:rPr>
                <a:solidFill>
                  <a:schemeClr val="tx1"/>
                </a:solidFill>
              </a:rPr>
              <a:t>At this stage, I handed the verified pipeline and baseline weights to Zeeshan for systematic hyperparameter tuning and accuracy optimization.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solidFill>
                <a:schemeClr val="tx1"/>
              </a:solidFill>
            </a:endParaRPr>
          </a:p>
        </p:txBody>
      </p:sp>
      <p:sp>
        <p:nvSpPr>
          <p:cNvPr id="3" name="Rounded Rectangle 2"/>
          <p:cNvSpPr/>
          <p:nvPr/>
        </p:nvSpPr>
        <p:spPr>
          <a:xfrm>
            <a:off x="731520" y="365760"/>
            <a:ext cx="4114800" cy="34747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wrap="square" lIns="137160" tIns="36576" rtlCol="0" anchor="ctr"/>
          <a:lstStyle/>
          <a:p>
            <a:pPr algn="ctr">
              <a:defRPr sz="1100" b="1">
                <a:solidFill>
                  <a:srgbClr val="FFFFFF"/>
                </a:solidFill>
              </a:defRPr>
            </a:pPr>
            <a:r>
              <a:rPr sz="1050">
                <a:solidFill>
                  <a:schemeClr val="tx1"/>
                </a:solidFill>
              </a:rPr>
              <a:t>PHASE 3: TRAINING &amp; OPTIMIZATION  |  PRESENTER: ZEESHAN</a:t>
            </a:r>
          </a:p>
        </p:txBody>
      </p:sp>
      <p:sp>
        <p:nvSpPr>
          <p:cNvPr id="4" name="TextBox 3"/>
          <p:cNvSpPr txBox="1"/>
          <p:nvPr/>
        </p:nvSpPr>
        <p:spPr>
          <a:xfrm>
            <a:off x="731520" y="777240"/>
            <a:ext cx="10698480" cy="353943"/>
          </a:xfrm>
          <a:prstGeom prst="rect">
            <a:avLst/>
          </a:prstGeom>
          <a:noFill/>
        </p:spPr>
        <p:txBody>
          <a:bodyPr wrap="square" lIns="0" tIns="0">
            <a:spAutoFit/>
          </a:bodyPr>
          <a:lstStyle/>
          <a:p>
            <a:pPr>
              <a:defRPr sz="2200" b="1">
                <a:solidFill>
                  <a:srgbClr val="0F172A"/>
                </a:solidFill>
              </a:defRPr>
            </a:pPr>
            <a:r>
              <a:rPr sz="2000"/>
              <a:t>Phase 3: Systematic Hyperparameter Optimization &amp; Accuracy Gains</a:t>
            </a:r>
          </a:p>
        </p:txBody>
      </p:sp>
      <p:graphicFrame>
        <p:nvGraphicFramePr>
          <p:cNvPr id="5" name="Table 4"/>
          <p:cNvGraphicFramePr>
            <a:graphicFrameLocks noGrp="1"/>
          </p:cNvGraphicFramePr>
          <p:nvPr/>
        </p:nvGraphicFramePr>
        <p:xfrm>
          <a:off x="731520" y="1645920"/>
          <a:ext cx="10698480" cy="237744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3017520">
                  <a:extLst>
                    <a:ext uri="{9D8B030D-6E8A-4147-A177-3AD203B41FA5}">
                      <a16:colId xmlns:a16="http://schemas.microsoft.com/office/drawing/2014/main" val="20004"/>
                    </a:ext>
                  </a:extLst>
                </a:gridCol>
              </a:tblGrid>
              <a:tr h="396240">
                <a:tc>
                  <a:txBody>
                    <a:bodyPr/>
                    <a:lstStyle/>
                    <a:p>
                      <a:pPr>
                        <a:defRPr sz="1050" b="1">
                          <a:solidFill>
                            <a:srgbClr val="FFFFFF"/>
                          </a:solidFill>
                        </a:defRPr>
                      </a:pPr>
                      <a:r>
                        <a:t>Run #</a:t>
                      </a:r>
                    </a:p>
                  </a:txBody>
                  <a:tcPr>
                    <a:solidFill>
                      <a:srgbClr val="0F172A"/>
                    </a:solidFill>
                  </a:tcPr>
                </a:tc>
                <a:tc>
                  <a:txBody>
                    <a:bodyPr/>
                    <a:lstStyle/>
                    <a:p>
                      <a:pPr>
                        <a:defRPr sz="1050" b="1">
                          <a:solidFill>
                            <a:srgbClr val="FFFFFF"/>
                          </a:solidFill>
                        </a:defRPr>
                      </a:pPr>
                      <a:r>
                        <a:t>Hyperparameter Configuration</a:t>
                      </a:r>
                    </a:p>
                  </a:txBody>
                  <a:tcPr>
                    <a:solidFill>
                      <a:srgbClr val="0F172A"/>
                    </a:solidFill>
                  </a:tcPr>
                </a:tc>
                <a:tc>
                  <a:txBody>
                    <a:bodyPr/>
                    <a:lstStyle/>
                    <a:p>
                      <a:pPr>
                        <a:defRPr sz="1050" b="1">
                          <a:solidFill>
                            <a:srgbClr val="FFFFFF"/>
                          </a:solidFill>
                        </a:defRPr>
                      </a:pPr>
                      <a:r>
                        <a:t>Mean 10-Fold Acc</a:t>
                      </a:r>
                    </a:p>
                  </a:txBody>
                  <a:tcPr>
                    <a:solidFill>
                      <a:srgbClr val="0F172A"/>
                    </a:solidFill>
                  </a:tcPr>
                </a:tc>
                <a:tc>
                  <a:txBody>
                    <a:bodyPr/>
                    <a:lstStyle/>
                    <a:p>
                      <a:pPr>
                        <a:defRPr sz="1050" b="1">
                          <a:solidFill>
                            <a:srgbClr val="FFFFFF"/>
                          </a:solidFill>
                        </a:defRPr>
                      </a:pPr>
                      <a:r>
                        <a:t>Gain vs Baseline</a:t>
                      </a:r>
                    </a:p>
                  </a:txBody>
                  <a:tcPr>
                    <a:solidFill>
                      <a:srgbClr val="0F172A"/>
                    </a:solidFill>
                  </a:tcPr>
                </a:tc>
                <a:tc>
                  <a:txBody>
                    <a:bodyPr/>
                    <a:lstStyle/>
                    <a:p>
                      <a:pPr>
                        <a:defRPr sz="1050" b="1">
                          <a:solidFill>
                            <a:srgbClr val="FFFFFF"/>
                          </a:solidFill>
                        </a:defRPr>
                      </a:pPr>
                      <a:r>
                        <a:t>Engineering Observation</a:t>
                      </a:r>
                    </a:p>
                  </a:txBody>
                  <a:tcPr>
                    <a:solidFill>
                      <a:srgbClr val="0F172A"/>
                    </a:solidFill>
                  </a:tcPr>
                </a:tc>
                <a:extLst>
                  <a:ext uri="{0D108BD9-81ED-4DB2-BD59-A6C34878D82A}">
                    <a16:rowId xmlns:a16="http://schemas.microsoft.com/office/drawing/2014/main" val="10000"/>
                  </a:ext>
                </a:extLst>
              </a:tr>
              <a:tr h="396240">
                <a:tc>
                  <a:txBody>
                    <a:bodyPr/>
                    <a:lstStyle/>
                    <a:p>
                      <a:pPr>
                        <a:defRPr sz="1000">
                          <a:solidFill>
                            <a:srgbClr val="0F172A"/>
                          </a:solidFill>
                        </a:defRPr>
                      </a:pPr>
                      <a:r>
                        <a:t>Run 1</a:t>
                      </a:r>
                    </a:p>
                  </a:txBody>
                  <a:tcPr>
                    <a:solidFill>
                      <a:srgbClr val="FFFFFF"/>
                    </a:solidFill>
                  </a:tcPr>
                </a:tc>
                <a:tc>
                  <a:txBody>
                    <a:bodyPr/>
                    <a:lstStyle/>
                    <a:p>
                      <a:pPr>
                        <a:defRPr sz="1000">
                          <a:solidFill>
                            <a:srgbClr val="0F172A"/>
                          </a:solidFill>
                        </a:defRPr>
                      </a:pPr>
                      <a:r>
                        <a:t>Default Settings (eta=1e-3, Batch Size 32, Fixed LR)</a:t>
                      </a:r>
                    </a:p>
                  </a:txBody>
                  <a:tcPr>
                    <a:solidFill>
                      <a:srgbClr val="FFFFFF"/>
                    </a:solidFill>
                  </a:tcPr>
                </a:tc>
                <a:tc>
                  <a:txBody>
                    <a:bodyPr/>
                    <a:lstStyle/>
                    <a:p>
                      <a:pPr>
                        <a:defRPr sz="1000">
                          <a:solidFill>
                            <a:srgbClr val="0F172A"/>
                          </a:solidFill>
                        </a:defRPr>
                      </a:pPr>
                      <a:r>
                        <a:t>54.10%</a:t>
                      </a:r>
                    </a:p>
                  </a:txBody>
                  <a:tcPr>
                    <a:solidFill>
                      <a:srgbClr val="FFFFFF"/>
                    </a:solidFill>
                  </a:tcPr>
                </a:tc>
                <a:tc>
                  <a:txBody>
                    <a:bodyPr/>
                    <a:lstStyle/>
                    <a:p>
                      <a:pPr>
                        <a:defRPr sz="1000">
                          <a:solidFill>
                            <a:srgbClr val="0F172A"/>
                          </a:solidFill>
                        </a:defRPr>
                      </a:pPr>
                      <a:r>
                        <a:t>Baseline</a:t>
                      </a:r>
                    </a:p>
                  </a:txBody>
                  <a:tcPr>
                    <a:solidFill>
                      <a:srgbClr val="FFFFFF"/>
                    </a:solidFill>
                  </a:tcPr>
                </a:tc>
                <a:tc>
                  <a:txBody>
                    <a:bodyPr/>
                    <a:lstStyle/>
                    <a:p>
                      <a:pPr>
                        <a:defRPr sz="1000">
                          <a:solidFill>
                            <a:srgbClr val="0F172A"/>
                          </a:solidFill>
                        </a:defRPr>
                      </a:pPr>
                      <a:r>
                        <a:t>Initial handoff from Anshuman; rapid loss plateau</a:t>
                      </a:r>
                    </a:p>
                  </a:txBody>
                  <a:tcPr>
                    <a:solidFill>
                      <a:srgbClr val="FFFFFF"/>
                    </a:solidFill>
                  </a:tcPr>
                </a:tc>
                <a:extLst>
                  <a:ext uri="{0D108BD9-81ED-4DB2-BD59-A6C34878D82A}">
                    <a16:rowId xmlns:a16="http://schemas.microsoft.com/office/drawing/2014/main" val="10001"/>
                  </a:ext>
                </a:extLst>
              </a:tr>
              <a:tr h="396240">
                <a:tc>
                  <a:txBody>
                    <a:bodyPr/>
                    <a:lstStyle/>
                    <a:p>
                      <a:pPr>
                        <a:defRPr sz="1000">
                          <a:solidFill>
                            <a:srgbClr val="0F172A"/>
                          </a:solidFill>
                        </a:defRPr>
                      </a:pPr>
                      <a:r>
                        <a:t>Run 2</a:t>
                      </a:r>
                    </a:p>
                  </a:txBody>
                  <a:tcPr>
                    <a:solidFill>
                      <a:srgbClr val="F1F5F9"/>
                    </a:solidFill>
                  </a:tcPr>
                </a:tc>
                <a:tc>
                  <a:txBody>
                    <a:bodyPr/>
                    <a:lstStyle/>
                    <a:p>
                      <a:pPr>
                        <a:defRPr sz="1000">
                          <a:solidFill>
                            <a:srgbClr val="0F172A"/>
                          </a:solidFill>
                        </a:defRPr>
                      </a:pPr>
                      <a:r>
                        <a:t>Tuned LR (eta=3e-4) + ReduceLROnPlateau (factor 0.5, pat 5)</a:t>
                      </a:r>
                    </a:p>
                  </a:txBody>
                  <a:tcPr>
                    <a:solidFill>
                      <a:srgbClr val="F1F5F9"/>
                    </a:solidFill>
                  </a:tcPr>
                </a:tc>
                <a:tc>
                  <a:txBody>
                    <a:bodyPr/>
                    <a:lstStyle/>
                    <a:p>
                      <a:pPr>
                        <a:defRPr sz="1000">
                          <a:solidFill>
                            <a:srgbClr val="0F172A"/>
                          </a:solidFill>
                        </a:defRPr>
                      </a:pPr>
                      <a:r>
                        <a:t>57.64%</a:t>
                      </a:r>
                    </a:p>
                  </a:txBody>
                  <a:tcPr>
                    <a:solidFill>
                      <a:srgbClr val="F1F5F9"/>
                    </a:solidFill>
                  </a:tcPr>
                </a:tc>
                <a:tc>
                  <a:txBody>
                    <a:bodyPr/>
                    <a:lstStyle/>
                    <a:p>
                      <a:pPr>
                        <a:defRPr sz="1000" b="1">
                          <a:solidFill>
                            <a:srgbClr val="10B981"/>
                          </a:solidFill>
                        </a:defRPr>
                      </a:pPr>
                      <a:r>
                        <a:t>+3.54%</a:t>
                      </a:r>
                    </a:p>
                  </a:txBody>
                  <a:tcPr>
                    <a:solidFill>
                      <a:srgbClr val="F1F5F9"/>
                    </a:solidFill>
                  </a:tcPr>
                </a:tc>
                <a:tc>
                  <a:txBody>
                    <a:bodyPr/>
                    <a:lstStyle/>
                    <a:p>
                      <a:pPr>
                        <a:defRPr sz="1000">
                          <a:solidFill>
                            <a:srgbClr val="0F172A"/>
                          </a:solidFill>
                        </a:defRPr>
                      </a:pPr>
                      <a:r>
                        <a:t>Escaped early local minima; smoother loss convergence</a:t>
                      </a:r>
                    </a:p>
                  </a:txBody>
                  <a:tcPr>
                    <a:solidFill>
                      <a:srgbClr val="F1F5F9"/>
                    </a:solidFill>
                  </a:tcPr>
                </a:tc>
                <a:extLst>
                  <a:ext uri="{0D108BD9-81ED-4DB2-BD59-A6C34878D82A}">
                    <a16:rowId xmlns:a16="http://schemas.microsoft.com/office/drawing/2014/main" val="10002"/>
                  </a:ext>
                </a:extLst>
              </a:tr>
              <a:tr h="396240">
                <a:tc>
                  <a:txBody>
                    <a:bodyPr/>
                    <a:lstStyle/>
                    <a:p>
                      <a:pPr>
                        <a:defRPr sz="1000">
                          <a:solidFill>
                            <a:srgbClr val="0F172A"/>
                          </a:solidFill>
                        </a:defRPr>
                      </a:pPr>
                      <a:r>
                        <a:t>Run 3</a:t>
                      </a:r>
                    </a:p>
                  </a:txBody>
                  <a:tcPr>
                    <a:solidFill>
                      <a:srgbClr val="FFFFFF"/>
                    </a:solidFill>
                  </a:tcPr>
                </a:tc>
                <a:tc>
                  <a:txBody>
                    <a:bodyPr/>
                    <a:lstStyle/>
                    <a:p>
                      <a:pPr>
                        <a:defRPr sz="1000">
                          <a:solidFill>
                            <a:srgbClr val="0F172A"/>
                          </a:solidFill>
                        </a:defRPr>
                      </a:pPr>
                      <a:r>
                        <a:t>Batch Size 16 + EarlyStopping (patience 12 on val_loss)</a:t>
                      </a:r>
                    </a:p>
                  </a:txBody>
                  <a:tcPr>
                    <a:solidFill>
                      <a:srgbClr val="FFFFFF"/>
                    </a:solidFill>
                  </a:tcPr>
                </a:tc>
                <a:tc>
                  <a:txBody>
                    <a:bodyPr/>
                    <a:lstStyle/>
                    <a:p>
                      <a:pPr>
                        <a:defRPr sz="1000">
                          <a:solidFill>
                            <a:srgbClr val="0F172A"/>
                          </a:solidFill>
                        </a:defRPr>
                      </a:pPr>
                      <a:r>
                        <a:t>60.42%</a:t>
                      </a:r>
                    </a:p>
                  </a:txBody>
                  <a:tcPr>
                    <a:solidFill>
                      <a:srgbClr val="FFFFFF"/>
                    </a:solidFill>
                  </a:tcPr>
                </a:tc>
                <a:tc>
                  <a:txBody>
                    <a:bodyPr/>
                    <a:lstStyle/>
                    <a:p>
                      <a:pPr>
                        <a:defRPr sz="1000" b="1">
                          <a:solidFill>
                            <a:srgbClr val="10B981"/>
                          </a:solidFill>
                        </a:defRPr>
                      </a:pPr>
                      <a:r>
                        <a:t>+2.78%</a:t>
                      </a:r>
                    </a:p>
                  </a:txBody>
                  <a:tcPr>
                    <a:solidFill>
                      <a:srgbClr val="FFFFFF"/>
                    </a:solidFill>
                  </a:tcPr>
                </a:tc>
                <a:tc>
                  <a:txBody>
                    <a:bodyPr/>
                    <a:lstStyle/>
                    <a:p>
                      <a:pPr>
                        <a:defRPr sz="1000">
                          <a:solidFill>
                            <a:srgbClr val="0F172A"/>
                          </a:solidFill>
                        </a:defRPr>
                      </a:pPr>
                      <a:r>
                        <a:t>Reduced gradient noise; prevented over-fitting</a:t>
                      </a:r>
                    </a:p>
                  </a:txBody>
                  <a:tcPr>
                    <a:solidFill>
                      <a:srgbClr val="FFFFFF"/>
                    </a:solidFill>
                  </a:tcPr>
                </a:tc>
                <a:extLst>
                  <a:ext uri="{0D108BD9-81ED-4DB2-BD59-A6C34878D82A}">
                    <a16:rowId xmlns:a16="http://schemas.microsoft.com/office/drawing/2014/main" val="10003"/>
                  </a:ext>
                </a:extLst>
              </a:tr>
              <a:tr h="396240">
                <a:tc>
                  <a:txBody>
                    <a:bodyPr/>
                    <a:lstStyle/>
                    <a:p>
                      <a:pPr>
                        <a:defRPr sz="1000">
                          <a:solidFill>
                            <a:srgbClr val="0F172A"/>
                          </a:solidFill>
                        </a:defRPr>
                      </a:pPr>
                      <a:r>
                        <a:t>Run 4</a:t>
                      </a:r>
                    </a:p>
                  </a:txBody>
                  <a:tcPr>
                    <a:solidFill>
                      <a:srgbClr val="F1F5F9"/>
                    </a:solidFill>
                  </a:tcPr>
                </a:tc>
                <a:tc>
                  <a:txBody>
                    <a:bodyPr/>
                    <a:lstStyle/>
                    <a:p>
                      <a:pPr>
                        <a:defRPr sz="1000">
                          <a:solidFill>
                            <a:srgbClr val="0F172A"/>
                          </a:solidFill>
                        </a:defRPr>
                      </a:pPr>
                      <a:r>
                        <a:t>Added Weight Decay (1e-4) + Gradient Clipping (norm 1.0)</a:t>
                      </a:r>
                    </a:p>
                  </a:txBody>
                  <a:tcPr>
                    <a:solidFill>
                      <a:srgbClr val="F1F5F9"/>
                    </a:solidFill>
                  </a:tcPr>
                </a:tc>
                <a:tc>
                  <a:txBody>
                    <a:bodyPr/>
                    <a:lstStyle/>
                    <a:p>
                      <a:pPr>
                        <a:defRPr sz="1000">
                          <a:solidFill>
                            <a:srgbClr val="0F172A"/>
                          </a:solidFill>
                        </a:defRPr>
                      </a:pPr>
                      <a:r>
                        <a:t>61.88%</a:t>
                      </a:r>
                    </a:p>
                  </a:txBody>
                  <a:tcPr>
                    <a:solidFill>
                      <a:srgbClr val="F1F5F9"/>
                    </a:solidFill>
                  </a:tcPr>
                </a:tc>
                <a:tc>
                  <a:txBody>
                    <a:bodyPr/>
                    <a:lstStyle/>
                    <a:p>
                      <a:pPr>
                        <a:defRPr sz="1000" b="1">
                          <a:solidFill>
                            <a:srgbClr val="10B981"/>
                          </a:solidFill>
                        </a:defRPr>
                      </a:pPr>
                      <a:r>
                        <a:t>+1.46%</a:t>
                      </a:r>
                    </a:p>
                  </a:txBody>
                  <a:tcPr>
                    <a:solidFill>
                      <a:srgbClr val="F1F5F9"/>
                    </a:solidFill>
                  </a:tcPr>
                </a:tc>
                <a:tc>
                  <a:txBody>
                    <a:bodyPr/>
                    <a:lstStyle/>
                    <a:p>
                      <a:pPr>
                        <a:defRPr sz="1000">
                          <a:solidFill>
                            <a:srgbClr val="0F172A"/>
                          </a:solidFill>
                        </a:defRPr>
                      </a:pPr>
                      <a:r>
                        <a:t>Stabilized primary capsule squashing norms</a:t>
                      </a:r>
                    </a:p>
                  </a:txBody>
                  <a:tcPr>
                    <a:solidFill>
                      <a:srgbClr val="F1F5F9"/>
                    </a:solidFill>
                  </a:tcPr>
                </a:tc>
                <a:extLst>
                  <a:ext uri="{0D108BD9-81ED-4DB2-BD59-A6C34878D82A}">
                    <a16:rowId xmlns:a16="http://schemas.microsoft.com/office/drawing/2014/main" val="10004"/>
                  </a:ext>
                </a:extLst>
              </a:tr>
              <a:tr h="396240">
                <a:tc>
                  <a:txBody>
                    <a:bodyPr/>
                    <a:lstStyle/>
                    <a:p>
                      <a:pPr>
                        <a:defRPr sz="1000">
                          <a:solidFill>
                            <a:srgbClr val="0F172A"/>
                          </a:solidFill>
                        </a:defRPr>
                      </a:pPr>
                      <a:r>
                        <a:t>Run 5</a:t>
                      </a:r>
                    </a:p>
                  </a:txBody>
                  <a:tcPr>
                    <a:solidFill>
                      <a:srgbClr val="FFFFFF"/>
                    </a:solidFill>
                  </a:tcPr>
                </a:tc>
                <a:tc>
                  <a:txBody>
                    <a:bodyPr/>
                    <a:lstStyle/>
                    <a:p>
                      <a:pPr>
                        <a:defRPr sz="1000">
                          <a:solidFill>
                            <a:srgbClr val="0F172A"/>
                          </a:solidFill>
                        </a:defRPr>
                      </a:pPr>
                      <a:r>
                        <a:t>Refined Dynamic Routing Iterations (r=3)</a:t>
                      </a:r>
                    </a:p>
                  </a:txBody>
                  <a:tcPr>
                    <a:solidFill>
                      <a:srgbClr val="FFFFFF"/>
                    </a:solidFill>
                  </a:tcPr>
                </a:tc>
                <a:tc>
                  <a:txBody>
                    <a:bodyPr/>
                    <a:lstStyle/>
                    <a:p>
                      <a:pPr>
                        <a:defRPr sz="1000" b="1">
                          <a:solidFill>
                            <a:srgbClr val="2563EB"/>
                          </a:solidFill>
                        </a:defRPr>
                      </a:pPr>
                      <a:r>
                        <a:t>63.54%</a:t>
                      </a:r>
                    </a:p>
                  </a:txBody>
                  <a:tcPr>
                    <a:solidFill>
                      <a:srgbClr val="FFFFFF"/>
                    </a:solidFill>
                  </a:tcPr>
                </a:tc>
                <a:tc>
                  <a:txBody>
                    <a:bodyPr/>
                    <a:lstStyle/>
                    <a:p>
                      <a:pPr>
                        <a:defRPr sz="1000" b="1">
                          <a:solidFill>
                            <a:srgbClr val="10B981"/>
                          </a:solidFill>
                        </a:defRPr>
                      </a:pPr>
                      <a:r>
                        <a:t>+1.66%</a:t>
                      </a:r>
                    </a:p>
                  </a:txBody>
                  <a:tcPr>
                    <a:solidFill>
                      <a:srgbClr val="FFFFFF"/>
                    </a:solidFill>
                  </a:tcPr>
                </a:tc>
                <a:tc>
                  <a:txBody>
                    <a:bodyPr/>
                    <a:lstStyle/>
                    <a:p>
                      <a:pPr>
                        <a:defRPr sz="1000">
                          <a:solidFill>
                            <a:srgbClr val="0F172A"/>
                          </a:solidFill>
                        </a:defRPr>
                      </a:pPr>
                      <a:r>
                        <a:t>Final model (Peak Fold 4: 72.22%, Std: +-1.96%)</a:t>
                      </a:r>
                    </a:p>
                  </a:txBody>
                  <a:tcPr>
                    <a:solidFill>
                      <a:srgbClr val="FFFFFF"/>
                    </a:solidFill>
                  </a:tcPr>
                </a:tc>
                <a:extLst>
                  <a:ext uri="{0D108BD9-81ED-4DB2-BD59-A6C34878D82A}">
                    <a16:rowId xmlns:a16="http://schemas.microsoft.com/office/drawing/2014/main" val="10005"/>
                  </a:ext>
                </a:extLst>
              </a:tr>
            </a:tbl>
          </a:graphicData>
        </a:graphic>
      </p:graphicFrame>
      <p:sp>
        <p:nvSpPr>
          <p:cNvPr id="6" name="Rounded Rectangle 5"/>
          <p:cNvSpPr/>
          <p:nvPr/>
        </p:nvSpPr>
        <p:spPr>
          <a:xfrm>
            <a:off x="731520" y="4297680"/>
            <a:ext cx="3383280" cy="2011680"/>
          </a:xfrm>
          <a:prstGeom prst="roundRect">
            <a:avLst/>
          </a:prstGeom>
          <a:solidFill>
            <a:srgbClr val="F1F5F9"/>
          </a:solidFill>
          <a:ln>
            <a:solidFill>
              <a:srgbClr val="D9770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D97706"/>
                </a:solidFill>
              </a:defRPr>
            </a:pPr>
            <a:r>
              <a:rPr sz="1100">
                <a:solidFill>
                  <a:schemeClr val="tx1"/>
                </a:solidFill>
              </a:rPr>
              <a:t>Batch Size Tuning (16 vs 32)</a:t>
            </a:r>
          </a:p>
          <a:p>
            <a:br>
              <a:rPr sz="1600">
                <a:solidFill>
                  <a:schemeClr val="tx1"/>
                </a:solidFill>
              </a:rPr>
            </a:br>
            <a:r>
              <a:rPr sz="1600">
                <a:solidFill>
                  <a:schemeClr val="tx1"/>
                </a:solidFill>
              </a:rPr>
              <a:t>Capsule squashing uses non-linear vector normalization. A batch size of 32 smoothed out subtle acoustic variances, causing early plateaus. Batch size 16 provided the ideal balance between gradient variance and routing stability.</a:t>
            </a:r>
          </a:p>
        </p:txBody>
      </p:sp>
      <p:sp>
        <p:nvSpPr>
          <p:cNvPr id="7" name="Rounded Rectangle 6"/>
          <p:cNvSpPr/>
          <p:nvPr/>
        </p:nvSpPr>
        <p:spPr>
          <a:xfrm>
            <a:off x="4389120" y="4297680"/>
            <a:ext cx="3383280" cy="2011680"/>
          </a:xfrm>
          <a:prstGeom prst="roundRect">
            <a:avLst/>
          </a:prstGeom>
          <a:solidFill>
            <a:srgbClr val="F1F5F9"/>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10B981"/>
                </a:solidFill>
              </a:defRPr>
            </a:pPr>
            <a:r>
              <a:rPr sz="1100">
                <a:solidFill>
                  <a:schemeClr val="tx1"/>
                </a:solidFill>
              </a:rPr>
              <a:t>Adaptive Learning Rate Schedule</a:t>
            </a:r>
          </a:p>
          <a:p>
            <a:br>
              <a:rPr sz="1600">
                <a:solidFill>
                  <a:schemeClr val="tx1"/>
                </a:solidFill>
              </a:rPr>
            </a:br>
            <a:r>
              <a:rPr sz="1600">
                <a:solidFill>
                  <a:schemeClr val="tx1"/>
                </a:solidFill>
              </a:rPr>
              <a:t>Initial eta=3e-4 with ReduceLROnPlateau enabled smooth descent across non-convex routing landscapes, dropping to 1.5e-4 and 7.5e-5 during late epochs to fine-tune capsule coupling coefficients.</a:t>
            </a:r>
          </a:p>
        </p:txBody>
      </p:sp>
      <p:sp>
        <p:nvSpPr>
          <p:cNvPr id="8" name="Rounded Rectangle 7"/>
          <p:cNvSpPr/>
          <p:nvPr/>
        </p:nvSpPr>
        <p:spPr>
          <a:xfrm>
            <a:off x="8046720" y="4297680"/>
            <a:ext cx="3383280" cy="2011680"/>
          </a:xfrm>
          <a:prstGeom prst="roundRect">
            <a:avLst/>
          </a:prstGeom>
          <a:solidFill>
            <a:srgbClr val="F1F5F9"/>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2563EB"/>
                </a:solidFill>
              </a:defRPr>
            </a:pPr>
            <a:r>
              <a:rPr sz="1100">
                <a:solidFill>
                  <a:schemeClr val="tx1"/>
                </a:solidFill>
              </a:rPr>
              <a:t>Cumulative +9.44% Accuracy Boost</a:t>
            </a:r>
          </a:p>
          <a:p>
            <a:br>
              <a:rPr sz="1600">
                <a:solidFill>
                  <a:schemeClr val="tx1"/>
                </a:solidFill>
              </a:rPr>
            </a:br>
            <a:r>
              <a:rPr sz="1600">
                <a:solidFill>
                  <a:schemeClr val="tx1"/>
                </a:solidFill>
              </a:rPr>
              <a:t>Through 5 systematic training runs, cross-validation accuracy was elevated from 54.10% to 63.54% (a +9.44% absolute increase), with our best fold reaching 72.22% accuracy.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3" name="Rounded Rectangle 2"/>
          <p:cNvSpPr/>
          <p:nvPr/>
        </p:nvSpPr>
        <p:spPr>
          <a:xfrm>
            <a:off x="731520" y="365760"/>
            <a:ext cx="4114800" cy="34747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wrap="square" lIns="137160" tIns="36576" rtlCol="0" anchor="ctr"/>
          <a:lstStyle/>
          <a:p>
            <a:pPr algn="ctr">
              <a:defRPr sz="1100" b="1">
                <a:solidFill>
                  <a:srgbClr val="FFFFFF"/>
                </a:solidFill>
              </a:defRPr>
            </a:pPr>
            <a:r>
              <a:rPr>
                <a:solidFill>
                  <a:schemeClr val="tx1"/>
                </a:solidFill>
              </a:rPr>
              <a:t>PHASE 3: TRAINING &amp; OPTIMIZATION  |  PRESENTER: ZEESHAN</a:t>
            </a:r>
          </a:p>
        </p:txBody>
      </p:sp>
      <p:sp>
        <p:nvSpPr>
          <p:cNvPr id="4" name="TextBox 3"/>
          <p:cNvSpPr txBox="1"/>
          <p:nvPr/>
        </p:nvSpPr>
        <p:spPr>
          <a:xfrm>
            <a:off x="731520" y="777240"/>
            <a:ext cx="10698480" cy="384721"/>
          </a:xfrm>
          <a:prstGeom prst="rect">
            <a:avLst/>
          </a:prstGeom>
          <a:noFill/>
        </p:spPr>
        <p:txBody>
          <a:bodyPr wrap="square" lIns="0" tIns="0">
            <a:spAutoFit/>
          </a:bodyPr>
          <a:lstStyle/>
          <a:p>
            <a:pPr>
              <a:defRPr sz="2200" b="1">
                <a:solidFill>
                  <a:srgbClr val="0F172A"/>
                </a:solidFill>
              </a:defRPr>
            </a:pPr>
            <a:r>
              <a:rPr dirty="0"/>
              <a:t>Phase 3: Dynamic Routing Ablation Study (r = 1, 2, 3)</a:t>
            </a:r>
          </a:p>
        </p:txBody>
      </p:sp>
      <p:pic>
        <p:nvPicPr>
          <p:cNvPr id="5" name="Picture 4" descr="routing_ablation.png"/>
          <p:cNvPicPr>
            <a:picLocks noChangeAspect="1"/>
          </p:cNvPicPr>
          <p:nvPr/>
        </p:nvPicPr>
        <p:blipFill>
          <a:blip r:embed="rId3"/>
          <a:stretch>
            <a:fillRect/>
          </a:stretch>
        </p:blipFill>
        <p:spPr>
          <a:xfrm>
            <a:off x="731520" y="1645920"/>
            <a:ext cx="5669280" cy="2473868"/>
          </a:xfrm>
          <a:prstGeom prst="rect">
            <a:avLst/>
          </a:prstGeom>
        </p:spPr>
      </p:pic>
      <p:sp>
        <p:nvSpPr>
          <p:cNvPr id="6" name="Rounded Rectangle 5"/>
          <p:cNvSpPr/>
          <p:nvPr/>
        </p:nvSpPr>
        <p:spPr>
          <a:xfrm>
            <a:off x="6583680" y="1645920"/>
            <a:ext cx="4846320" cy="4663440"/>
          </a:xfrm>
          <a:prstGeom prst="roundRect">
            <a:avLst/>
          </a:prstGeom>
          <a:solidFill>
            <a:srgbClr val="F1F5F9"/>
          </a:solidFill>
          <a:ln>
            <a:solidFill>
              <a:srgbClr val="D9770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D97706"/>
                </a:solidFill>
              </a:defRPr>
            </a:pPr>
            <a:r>
              <a:rPr>
                <a:solidFill>
                  <a:schemeClr val="tx1"/>
                </a:solidFill>
              </a:rPr>
              <a:t>EMPIRICAL ROUTING ABLATION FINDINGS</a:t>
            </a:r>
          </a:p>
          <a:p>
            <a:br>
              <a:rPr>
                <a:solidFill>
                  <a:schemeClr val="tx1"/>
                </a:solidFill>
              </a:rPr>
            </a:br>
            <a:r>
              <a:rPr>
                <a:solidFill>
                  <a:schemeClr val="tx1"/>
                </a:solidFill>
              </a:rPr>
              <a:t>* r = 1 Iteration (Uniform Routing)</a:t>
            </a:r>
          </a:p>
          <a:p>
            <a:pPr>
              <a:defRPr sz="1000">
                <a:solidFill>
                  <a:srgbClr val="475569"/>
                </a:solidFill>
              </a:defRPr>
            </a:pPr>
            <a:r>
              <a:rPr>
                <a:solidFill>
                  <a:schemeClr val="tx1"/>
                </a:solidFill>
              </a:rPr>
              <a:t>Mean Accuracy: 61.11% | Fold Std Dev: +- 5.68% | Latency: 7.72 ms</a:t>
            </a:r>
            <a:br>
              <a:rPr>
                <a:solidFill>
                  <a:schemeClr val="tx1"/>
                </a:solidFill>
              </a:rPr>
            </a:br>
            <a:r>
              <a:rPr>
                <a:solidFill>
                  <a:schemeClr val="tx1"/>
                </a:solidFill>
              </a:rPr>
              <a:t>With 1 iteration, coupling coefficients c_ij remain near-uniform. Primary capsules broadcast equally to all emotions, resulting in high fold variance and confusion between Happy and Angry.</a:t>
            </a:r>
          </a:p>
          <a:p>
            <a:br>
              <a:rPr>
                <a:solidFill>
                  <a:schemeClr val="tx1"/>
                </a:solidFill>
              </a:rPr>
            </a:br>
            <a:r>
              <a:rPr>
                <a:solidFill>
                  <a:schemeClr val="tx1"/>
                </a:solidFill>
              </a:rPr>
              <a:t>* r = 2 Iterations (Emerging Agreement)</a:t>
            </a:r>
          </a:p>
          <a:p>
            <a:pPr>
              <a:defRPr sz="1000">
                <a:solidFill>
                  <a:srgbClr val="475569"/>
                </a:solidFill>
              </a:defRPr>
            </a:pPr>
            <a:r>
              <a:rPr>
                <a:solidFill>
                  <a:schemeClr val="tx1"/>
                </a:solidFill>
              </a:rPr>
              <a:t>Mean Accuracy: 62.15% | Fold Std Dev: +- 3.12% | Latency: 7.98 ms</a:t>
            </a:r>
            <a:br>
              <a:rPr>
                <a:solidFill>
                  <a:schemeClr val="tx1"/>
                </a:solidFill>
              </a:rPr>
            </a:br>
            <a:r>
              <a:rPr>
                <a:solidFill>
                  <a:schemeClr val="tx1"/>
                </a:solidFill>
              </a:rPr>
              <a:t>Agreement scalar product u_j|i * v_j begins concentrating coupling weights, improving accuracy by +1.04% and cutting fold variance by 45%.</a:t>
            </a:r>
          </a:p>
          <a:p>
            <a:br>
              <a:rPr>
                <a:solidFill>
                  <a:schemeClr val="tx1"/>
                </a:solidFill>
              </a:rPr>
            </a:br>
            <a:r>
              <a:rPr>
                <a:solidFill>
                  <a:schemeClr val="tx1"/>
                </a:solidFill>
              </a:rPr>
              <a:t>* r = 3 Iterations (Optimal Convergence)</a:t>
            </a:r>
          </a:p>
          <a:p>
            <a:pPr>
              <a:defRPr sz="1000">
                <a:solidFill>
                  <a:srgbClr val="475569"/>
                </a:solidFill>
              </a:defRPr>
            </a:pPr>
            <a:r>
              <a:rPr>
                <a:solidFill>
                  <a:schemeClr val="tx1"/>
                </a:solidFill>
              </a:rPr>
              <a:t>Mean Accuracy: 63.54% | Fold Std Dev: +- 1.96% | Latency: 8.24 ms</a:t>
            </a:r>
            <a:br>
              <a:rPr>
                <a:solidFill>
                  <a:schemeClr val="tx1"/>
                </a:solidFill>
              </a:rPr>
            </a:br>
            <a:r>
              <a:rPr>
                <a:solidFill>
                  <a:schemeClr val="tx1"/>
                </a:solidFill>
              </a:rPr>
              <a:t>Dynamic agreement functions as an unsupervised clustering mechanism. Reduces fold variance by 65% and boosts Happy F1 by +6.5% with only a 0.52 ms latency cost.</a:t>
            </a:r>
          </a:p>
          <a:p>
            <a:br>
              <a:rPr>
                <a:solidFill>
                  <a:schemeClr val="tx1"/>
                </a:solidFill>
              </a:rPr>
            </a:br>
            <a:r>
              <a:rPr>
                <a:solidFill>
                  <a:schemeClr val="tx1"/>
                </a:solidFill>
              </a:rPr>
              <a:t>* Handoff to Omer</a:t>
            </a:r>
          </a:p>
          <a:p>
            <a:pPr>
              <a:defRPr sz="1000">
                <a:solidFill>
                  <a:srgbClr val="475569"/>
                </a:solidFill>
              </a:defRPr>
            </a:pPr>
            <a:r>
              <a:rPr>
                <a:solidFill>
                  <a:schemeClr val="tx1"/>
                </a:solidFill>
              </a:rPr>
              <a:t>Having maximized training performance and proven routing mechanics, I delivered the finalized model weights to Omer for 10-fold metric evaluation and UI deployment.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3" name="Rounded Rectangle 2"/>
          <p:cNvSpPr/>
          <p:nvPr/>
        </p:nvSpPr>
        <p:spPr>
          <a:xfrm>
            <a:off x="731520" y="365760"/>
            <a:ext cx="4114800" cy="347472"/>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wrap="square" lIns="137160" tIns="36576" rtlCol="0" anchor="ctr"/>
          <a:lstStyle/>
          <a:p>
            <a:pPr algn="ctr">
              <a:defRPr sz="1100" b="1">
                <a:solidFill>
                  <a:srgbClr val="FFFFFF"/>
                </a:solidFill>
              </a:defRPr>
            </a:pPr>
            <a:r>
              <a:rPr>
                <a:solidFill>
                  <a:schemeClr val="tx1"/>
                </a:solidFill>
              </a:rPr>
              <a:t>PHASE 4: EVALUATION &amp; UI  |  PRESENTER: OMER</a:t>
            </a:r>
          </a:p>
        </p:txBody>
      </p:sp>
      <p:sp>
        <p:nvSpPr>
          <p:cNvPr id="4" name="TextBox 3"/>
          <p:cNvSpPr txBox="1"/>
          <p:nvPr/>
        </p:nvSpPr>
        <p:spPr>
          <a:xfrm>
            <a:off x="731520" y="777240"/>
            <a:ext cx="10698480" cy="384721"/>
          </a:xfrm>
          <a:prstGeom prst="rect">
            <a:avLst/>
          </a:prstGeom>
          <a:noFill/>
        </p:spPr>
        <p:txBody>
          <a:bodyPr wrap="square" lIns="0" tIns="0">
            <a:spAutoFit/>
          </a:bodyPr>
          <a:lstStyle/>
          <a:p>
            <a:pPr>
              <a:defRPr sz="2200" b="1">
                <a:solidFill>
                  <a:srgbClr val="0F172A"/>
                </a:solidFill>
              </a:defRPr>
            </a:pPr>
            <a:r>
              <a:t>Phase 4: Final 10-Fold Benchmark &amp; Baseline Comparison</a:t>
            </a:r>
          </a:p>
        </p:txBody>
      </p:sp>
      <p:pic>
        <p:nvPicPr>
          <p:cNvPr id="5" name="Picture 4" descr="model_comparison_bar.png"/>
          <p:cNvPicPr>
            <a:picLocks noChangeAspect="1"/>
          </p:cNvPicPr>
          <p:nvPr/>
        </p:nvPicPr>
        <p:blipFill>
          <a:blip r:embed="rId3"/>
          <a:stretch>
            <a:fillRect/>
          </a:stretch>
        </p:blipFill>
        <p:spPr>
          <a:xfrm>
            <a:off x="731520" y="1645920"/>
            <a:ext cx="5120640" cy="3413760"/>
          </a:xfrm>
          <a:prstGeom prst="rect">
            <a:avLst/>
          </a:prstGeom>
        </p:spPr>
      </p:pic>
      <p:pic>
        <p:nvPicPr>
          <p:cNvPr id="6" name="Picture 5" descr="latency_accuracy_tradeoff.png"/>
          <p:cNvPicPr>
            <a:picLocks noChangeAspect="1"/>
          </p:cNvPicPr>
          <p:nvPr/>
        </p:nvPicPr>
        <p:blipFill>
          <a:blip r:embed="rId4"/>
          <a:stretch>
            <a:fillRect/>
          </a:stretch>
        </p:blipFill>
        <p:spPr>
          <a:xfrm>
            <a:off x="731520" y="4114800"/>
            <a:ext cx="5120640" cy="3200400"/>
          </a:xfrm>
          <a:prstGeom prst="rect">
            <a:avLst/>
          </a:prstGeom>
        </p:spPr>
      </p:pic>
      <p:graphicFrame>
        <p:nvGraphicFramePr>
          <p:cNvPr id="7" name="Table 6"/>
          <p:cNvGraphicFramePr>
            <a:graphicFrameLocks noGrp="1"/>
          </p:cNvGraphicFramePr>
          <p:nvPr/>
        </p:nvGraphicFramePr>
        <p:xfrm>
          <a:off x="6035040" y="1645920"/>
          <a:ext cx="5394960" cy="228600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571500">
                <a:tc>
                  <a:txBody>
                    <a:bodyPr/>
                    <a:lstStyle/>
                    <a:p>
                      <a:pPr>
                        <a:defRPr sz="1000" b="1">
                          <a:solidFill>
                            <a:srgbClr val="FFFFFF"/>
                          </a:solidFill>
                        </a:defRPr>
                      </a:pPr>
                      <a:r>
                        <a:t>Architecture</a:t>
                      </a:r>
                    </a:p>
                  </a:txBody>
                  <a:tcPr>
                    <a:solidFill>
                      <a:srgbClr val="0F172A"/>
                    </a:solidFill>
                  </a:tcPr>
                </a:tc>
                <a:tc>
                  <a:txBody>
                    <a:bodyPr/>
                    <a:lstStyle/>
                    <a:p>
                      <a:pPr>
                        <a:defRPr sz="1000" b="1">
                          <a:solidFill>
                            <a:srgbClr val="FFFFFF"/>
                          </a:solidFill>
                        </a:defRPr>
                      </a:pPr>
                      <a:r>
                        <a:t>10-Fold Accuracy</a:t>
                      </a:r>
                    </a:p>
                  </a:txBody>
                  <a:tcPr>
                    <a:solidFill>
                      <a:srgbClr val="0F172A"/>
                    </a:solidFill>
                  </a:tcPr>
                </a:tc>
                <a:tc>
                  <a:txBody>
                    <a:bodyPr/>
                    <a:lstStyle/>
                    <a:p>
                      <a:pPr>
                        <a:defRPr sz="1000" b="1">
                          <a:solidFill>
                            <a:srgbClr val="FFFFFF"/>
                          </a:solidFill>
                        </a:defRPr>
                      </a:pPr>
                      <a:r>
                        <a:t>Macro F1</a:t>
                      </a:r>
                    </a:p>
                  </a:txBody>
                  <a:tcPr>
                    <a:solidFill>
                      <a:srgbClr val="0F172A"/>
                    </a:solidFill>
                  </a:tcPr>
                </a:tc>
                <a:tc>
                  <a:txBody>
                    <a:bodyPr/>
                    <a:lstStyle/>
                    <a:p>
                      <a:pPr>
                        <a:defRPr sz="1000" b="1">
                          <a:solidFill>
                            <a:srgbClr val="FFFFFF"/>
                          </a:solidFill>
                        </a:defRPr>
                      </a:pPr>
                      <a:r>
                        <a:t>Weighted F1</a:t>
                      </a:r>
                    </a:p>
                  </a:txBody>
                  <a:tcPr>
                    <a:solidFill>
                      <a:srgbClr val="0F172A"/>
                    </a:solidFill>
                  </a:tcPr>
                </a:tc>
                <a:tc>
                  <a:txBody>
                    <a:bodyPr/>
                    <a:lstStyle/>
                    <a:p>
                      <a:pPr>
                        <a:defRPr sz="1000" b="1">
                          <a:solidFill>
                            <a:srgbClr val="FFFFFF"/>
                          </a:solidFill>
                        </a:defRPr>
                      </a:pPr>
                      <a:r>
                        <a:t>Latency</a:t>
                      </a:r>
                    </a:p>
                  </a:txBody>
                  <a:tcPr>
                    <a:solidFill>
                      <a:srgbClr val="0F172A"/>
                    </a:solidFill>
                  </a:tcPr>
                </a:tc>
                <a:extLst>
                  <a:ext uri="{0D108BD9-81ED-4DB2-BD59-A6C34878D82A}">
                    <a16:rowId xmlns:a16="http://schemas.microsoft.com/office/drawing/2014/main" val="10000"/>
                  </a:ext>
                </a:extLst>
              </a:tr>
              <a:tr h="571500">
                <a:tc>
                  <a:txBody>
                    <a:bodyPr/>
                    <a:lstStyle/>
                    <a:p>
                      <a:pPr>
                        <a:defRPr sz="950" b="1">
                          <a:solidFill>
                            <a:srgbClr val="0284C7"/>
                          </a:solidFill>
                        </a:defRPr>
                      </a:pPr>
                      <a:r>
                        <a:t>DCapsNet (Our Work)</a:t>
                      </a:r>
                    </a:p>
                  </a:txBody>
                  <a:tcPr>
                    <a:solidFill>
                      <a:srgbClr val="F0F9FF"/>
                    </a:solidFill>
                  </a:tcPr>
                </a:tc>
                <a:tc>
                  <a:txBody>
                    <a:bodyPr/>
                    <a:lstStyle/>
                    <a:p>
                      <a:pPr>
                        <a:defRPr sz="950" b="1">
                          <a:solidFill>
                            <a:srgbClr val="0284C7"/>
                          </a:solidFill>
                        </a:defRPr>
                      </a:pPr>
                      <a:r>
                        <a:t>63.54% +- 3.89%</a:t>
                      </a:r>
                    </a:p>
                  </a:txBody>
                  <a:tcPr>
                    <a:solidFill>
                      <a:srgbClr val="F0F9FF"/>
                    </a:solidFill>
                  </a:tcPr>
                </a:tc>
                <a:tc>
                  <a:txBody>
                    <a:bodyPr/>
                    <a:lstStyle/>
                    <a:p>
                      <a:pPr>
                        <a:defRPr sz="950" b="1">
                          <a:solidFill>
                            <a:srgbClr val="0284C7"/>
                          </a:solidFill>
                        </a:defRPr>
                      </a:pPr>
                      <a:r>
                        <a:t>0.6282</a:t>
                      </a:r>
                    </a:p>
                  </a:txBody>
                  <a:tcPr>
                    <a:solidFill>
                      <a:srgbClr val="F0F9FF"/>
                    </a:solidFill>
                  </a:tcPr>
                </a:tc>
                <a:tc>
                  <a:txBody>
                    <a:bodyPr/>
                    <a:lstStyle/>
                    <a:p>
                      <a:pPr>
                        <a:defRPr sz="950" b="1">
                          <a:solidFill>
                            <a:srgbClr val="0284C7"/>
                          </a:solidFill>
                        </a:defRPr>
                      </a:pPr>
                      <a:r>
                        <a:t>0.6326</a:t>
                      </a:r>
                    </a:p>
                  </a:txBody>
                  <a:tcPr>
                    <a:solidFill>
                      <a:srgbClr val="F0F9FF"/>
                    </a:solidFill>
                  </a:tcPr>
                </a:tc>
                <a:tc>
                  <a:txBody>
                    <a:bodyPr/>
                    <a:lstStyle/>
                    <a:p>
                      <a:pPr>
                        <a:defRPr sz="950" b="1">
                          <a:solidFill>
                            <a:srgbClr val="0284C7"/>
                          </a:solidFill>
                        </a:defRPr>
                      </a:pPr>
                      <a:r>
                        <a:t>8.24 ms</a:t>
                      </a:r>
                    </a:p>
                  </a:txBody>
                  <a:tcPr>
                    <a:solidFill>
                      <a:srgbClr val="F0F9FF"/>
                    </a:solidFill>
                  </a:tcPr>
                </a:tc>
                <a:extLst>
                  <a:ext uri="{0D108BD9-81ED-4DB2-BD59-A6C34878D82A}">
                    <a16:rowId xmlns:a16="http://schemas.microsoft.com/office/drawing/2014/main" val="10001"/>
                  </a:ext>
                </a:extLst>
              </a:tr>
              <a:tr h="571500">
                <a:tc>
                  <a:txBody>
                    <a:bodyPr/>
                    <a:lstStyle/>
                    <a:p>
                      <a:pPr>
                        <a:defRPr sz="950">
                          <a:solidFill>
                            <a:srgbClr val="0F172A"/>
                          </a:solidFill>
                        </a:defRPr>
                      </a:pPr>
                      <a:r>
                        <a:t>1D-CNN Baseline</a:t>
                      </a:r>
                    </a:p>
                  </a:txBody>
                  <a:tcPr>
                    <a:solidFill>
                      <a:srgbClr val="FFFFFF"/>
                    </a:solidFill>
                  </a:tcPr>
                </a:tc>
                <a:tc>
                  <a:txBody>
                    <a:bodyPr/>
                    <a:lstStyle/>
                    <a:p>
                      <a:pPr>
                        <a:defRPr sz="950">
                          <a:solidFill>
                            <a:srgbClr val="0F172A"/>
                          </a:solidFill>
                        </a:defRPr>
                      </a:pPr>
                      <a:r>
                        <a:t>51.81% +- 5.34%</a:t>
                      </a:r>
                    </a:p>
                  </a:txBody>
                  <a:tcPr>
                    <a:solidFill>
                      <a:srgbClr val="FFFFFF"/>
                    </a:solidFill>
                  </a:tcPr>
                </a:tc>
                <a:tc>
                  <a:txBody>
                    <a:bodyPr/>
                    <a:lstStyle/>
                    <a:p>
                      <a:pPr>
                        <a:defRPr sz="950">
                          <a:solidFill>
                            <a:srgbClr val="0F172A"/>
                          </a:solidFill>
                        </a:defRPr>
                      </a:pPr>
                      <a:r>
                        <a:t>0.5023</a:t>
                      </a:r>
                    </a:p>
                  </a:txBody>
                  <a:tcPr>
                    <a:solidFill>
                      <a:srgbClr val="FFFFFF"/>
                    </a:solidFill>
                  </a:tcPr>
                </a:tc>
                <a:tc>
                  <a:txBody>
                    <a:bodyPr/>
                    <a:lstStyle/>
                    <a:p>
                      <a:pPr>
                        <a:defRPr sz="950">
                          <a:solidFill>
                            <a:srgbClr val="0F172A"/>
                          </a:solidFill>
                        </a:defRPr>
                      </a:pPr>
                      <a:r>
                        <a:t>0.5140</a:t>
                      </a:r>
                    </a:p>
                  </a:txBody>
                  <a:tcPr>
                    <a:solidFill>
                      <a:srgbClr val="FFFFFF"/>
                    </a:solidFill>
                  </a:tcPr>
                </a:tc>
                <a:tc>
                  <a:txBody>
                    <a:bodyPr/>
                    <a:lstStyle/>
                    <a:p>
                      <a:pPr>
                        <a:defRPr sz="950">
                          <a:solidFill>
                            <a:srgbClr val="0F172A"/>
                          </a:solidFill>
                        </a:defRPr>
                      </a:pPr>
                      <a:r>
                        <a:t>4.12 ms</a:t>
                      </a:r>
                    </a:p>
                  </a:txBody>
                  <a:tcPr>
                    <a:solidFill>
                      <a:srgbClr val="FFFFFF"/>
                    </a:solidFill>
                  </a:tcPr>
                </a:tc>
                <a:extLst>
                  <a:ext uri="{0D108BD9-81ED-4DB2-BD59-A6C34878D82A}">
                    <a16:rowId xmlns:a16="http://schemas.microsoft.com/office/drawing/2014/main" val="10002"/>
                  </a:ext>
                </a:extLst>
              </a:tr>
              <a:tr h="571500">
                <a:tc>
                  <a:txBody>
                    <a:bodyPr/>
                    <a:lstStyle/>
                    <a:p>
                      <a:pPr>
                        <a:defRPr sz="950">
                          <a:solidFill>
                            <a:srgbClr val="0F172A"/>
                          </a:solidFill>
                        </a:defRPr>
                      </a:pPr>
                      <a:r>
                        <a:t>BiLSTM Baseline</a:t>
                      </a:r>
                    </a:p>
                  </a:txBody>
                  <a:tcPr>
                    <a:solidFill>
                      <a:srgbClr val="F1F5F9"/>
                    </a:solidFill>
                  </a:tcPr>
                </a:tc>
                <a:tc>
                  <a:txBody>
                    <a:bodyPr/>
                    <a:lstStyle/>
                    <a:p>
                      <a:pPr>
                        <a:defRPr sz="950">
                          <a:solidFill>
                            <a:srgbClr val="0F172A"/>
                          </a:solidFill>
                        </a:defRPr>
                      </a:pPr>
                      <a:r>
                        <a:t>51.39% +- 4.80%</a:t>
                      </a:r>
                    </a:p>
                  </a:txBody>
                  <a:tcPr>
                    <a:solidFill>
                      <a:srgbClr val="F1F5F9"/>
                    </a:solidFill>
                  </a:tcPr>
                </a:tc>
                <a:tc>
                  <a:txBody>
                    <a:bodyPr/>
                    <a:lstStyle/>
                    <a:p>
                      <a:pPr>
                        <a:defRPr sz="950">
                          <a:solidFill>
                            <a:srgbClr val="0F172A"/>
                          </a:solidFill>
                        </a:defRPr>
                      </a:pPr>
                      <a:r>
                        <a:t>0.4988</a:t>
                      </a:r>
                    </a:p>
                  </a:txBody>
                  <a:tcPr>
                    <a:solidFill>
                      <a:srgbClr val="F1F5F9"/>
                    </a:solidFill>
                  </a:tcPr>
                </a:tc>
                <a:tc>
                  <a:txBody>
                    <a:bodyPr/>
                    <a:lstStyle/>
                    <a:p>
                      <a:pPr>
                        <a:defRPr sz="950">
                          <a:solidFill>
                            <a:srgbClr val="0F172A"/>
                          </a:solidFill>
                        </a:defRPr>
                      </a:pPr>
                      <a:r>
                        <a:t>0.5092</a:t>
                      </a:r>
                    </a:p>
                  </a:txBody>
                  <a:tcPr>
                    <a:solidFill>
                      <a:srgbClr val="F1F5F9"/>
                    </a:solidFill>
                  </a:tcPr>
                </a:tc>
                <a:tc>
                  <a:txBody>
                    <a:bodyPr/>
                    <a:lstStyle/>
                    <a:p>
                      <a:pPr>
                        <a:defRPr sz="950">
                          <a:solidFill>
                            <a:srgbClr val="0F172A"/>
                          </a:solidFill>
                        </a:defRPr>
                      </a:pPr>
                      <a:r>
                        <a:t>24.67 ms</a:t>
                      </a:r>
                    </a:p>
                  </a:txBody>
                  <a:tcPr>
                    <a:solidFill>
                      <a:srgbClr val="F1F5F9"/>
                    </a:solidFill>
                  </a:tcPr>
                </a:tc>
                <a:extLst>
                  <a:ext uri="{0D108BD9-81ED-4DB2-BD59-A6C34878D82A}">
                    <a16:rowId xmlns:a16="http://schemas.microsoft.com/office/drawing/2014/main" val="10003"/>
                  </a:ext>
                </a:extLst>
              </a:tr>
            </a:tbl>
          </a:graphicData>
        </a:graphic>
      </p:graphicFrame>
      <p:sp>
        <p:nvSpPr>
          <p:cNvPr id="8" name="Rounded Rectangle 7"/>
          <p:cNvSpPr/>
          <p:nvPr/>
        </p:nvSpPr>
        <p:spPr>
          <a:xfrm>
            <a:off x="6035040" y="4114800"/>
            <a:ext cx="5394960" cy="2194560"/>
          </a:xfrm>
          <a:prstGeom prst="roundRect">
            <a:avLst/>
          </a:prstGeom>
          <a:solidFill>
            <a:srgbClr val="F1F5F9"/>
          </a:solidFill>
          <a:ln>
            <a:solidFill>
              <a:srgbClr val="0284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0284C7"/>
                </a:solidFill>
              </a:defRPr>
            </a:pPr>
            <a:r>
              <a:rPr>
                <a:solidFill>
                  <a:schemeClr val="tx1"/>
                </a:solidFill>
              </a:rPr>
              <a:t>RIGOROUS EVALUATION TAKEAWAYS</a:t>
            </a:r>
          </a:p>
          <a:p>
            <a:pPr>
              <a:defRPr sz="950">
                <a:solidFill>
                  <a:srgbClr val="475569"/>
                </a:solidFill>
              </a:defRPr>
            </a:pPr>
            <a:r>
              <a:rPr>
                <a:solidFill>
                  <a:schemeClr val="tx1"/>
                </a:solidFill>
              </a:rPr>
              <a:t>* +11.73% Superiority over 1D-CNN: Demonstrates that dilated capsules successfully preserve acoustic formant relationships that pooling layers discard.</a:t>
            </a:r>
          </a:p>
          <a:p>
            <a:pPr>
              <a:defRPr sz="950">
                <a:solidFill>
                  <a:srgbClr val="475569"/>
                </a:solidFill>
              </a:defRPr>
            </a:pPr>
            <a:r>
              <a:rPr>
                <a:solidFill>
                  <a:schemeClr val="tx1"/>
                </a:solidFill>
              </a:rPr>
              <a:t>* +12.15% Superiority over BiLSTM: Demonstrates that capsule routing models harmonic co-occurrences more effectively than recurrent sequence state transitions.</a:t>
            </a:r>
          </a:p>
          <a:p>
            <a:pPr>
              <a:defRPr sz="950">
                <a:solidFill>
                  <a:srgbClr val="475569"/>
                </a:solidFill>
              </a:defRPr>
            </a:pPr>
            <a:r>
              <a:rPr>
                <a:solidFill>
                  <a:schemeClr val="tx1"/>
                </a:solidFill>
              </a:rPr>
              <a:t>* 3x Faster than BiLSTM: At 8.24 ms/sample, DCapsNet operates well within real-time streaming constraints, compared to 24.67 ms for unrolled recurrent networks.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3" name="Rounded Rectangle 2"/>
          <p:cNvSpPr/>
          <p:nvPr/>
        </p:nvSpPr>
        <p:spPr>
          <a:xfrm>
            <a:off x="731520" y="365760"/>
            <a:ext cx="4114800" cy="347472"/>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wrap="square" lIns="137160" tIns="36576" rtlCol="0" anchor="ctr"/>
          <a:lstStyle/>
          <a:p>
            <a:pPr algn="ctr">
              <a:defRPr sz="1100" b="1">
                <a:solidFill>
                  <a:srgbClr val="FFFFFF"/>
                </a:solidFill>
              </a:defRPr>
            </a:pPr>
            <a:r>
              <a:rPr>
                <a:solidFill>
                  <a:schemeClr val="tx1"/>
                </a:solidFill>
              </a:rPr>
              <a:t>PHASE 4: EVALUATION &amp; UI  |  PRESENTER: OMER</a:t>
            </a:r>
          </a:p>
        </p:txBody>
      </p:sp>
      <p:sp>
        <p:nvSpPr>
          <p:cNvPr id="4" name="TextBox 3"/>
          <p:cNvSpPr txBox="1"/>
          <p:nvPr/>
        </p:nvSpPr>
        <p:spPr>
          <a:xfrm>
            <a:off x="731520" y="777240"/>
            <a:ext cx="10698480" cy="384721"/>
          </a:xfrm>
          <a:prstGeom prst="rect">
            <a:avLst/>
          </a:prstGeom>
          <a:noFill/>
        </p:spPr>
        <p:txBody>
          <a:bodyPr wrap="square" lIns="0" tIns="0">
            <a:spAutoFit/>
          </a:bodyPr>
          <a:lstStyle/>
          <a:p>
            <a:pPr>
              <a:defRPr sz="2200" b="1">
                <a:solidFill>
                  <a:srgbClr val="0F172A"/>
                </a:solidFill>
              </a:defRPr>
            </a:pPr>
            <a:r>
              <a:t>Phase 4: Per-Class Emotion Metrics &amp; Literature Comparison</a:t>
            </a:r>
          </a:p>
        </p:txBody>
      </p:sp>
      <p:pic>
        <p:nvPicPr>
          <p:cNvPr id="5" name="Picture 4" descr="confusion_matrix_dcapsnet.png"/>
          <p:cNvPicPr>
            <a:picLocks noChangeAspect="1"/>
          </p:cNvPicPr>
          <p:nvPr/>
        </p:nvPicPr>
        <p:blipFill>
          <a:blip r:embed="rId3"/>
          <a:stretch>
            <a:fillRect/>
          </a:stretch>
        </p:blipFill>
        <p:spPr>
          <a:xfrm>
            <a:off x="731520" y="1645920"/>
            <a:ext cx="5120640" cy="4160520"/>
          </a:xfrm>
          <a:prstGeom prst="rect">
            <a:avLst/>
          </a:prstGeom>
        </p:spPr>
      </p:pic>
      <p:sp>
        <p:nvSpPr>
          <p:cNvPr id="6" name="Rounded Rectangle 5"/>
          <p:cNvSpPr/>
          <p:nvPr/>
        </p:nvSpPr>
        <p:spPr>
          <a:xfrm>
            <a:off x="6035040" y="1645920"/>
            <a:ext cx="5394960" cy="466344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0284C7"/>
                </a:solidFill>
              </a:defRPr>
            </a:pPr>
            <a:r>
              <a:rPr>
                <a:solidFill>
                  <a:schemeClr val="tx1"/>
                </a:solidFill>
              </a:rPr>
              <a:t>PER-CLASS EMOTION ANALYSIS &amp; LITERATURE GAP</a:t>
            </a:r>
          </a:p>
          <a:p>
            <a:br>
              <a:rPr>
                <a:solidFill>
                  <a:schemeClr val="tx1"/>
                </a:solidFill>
              </a:rPr>
            </a:br>
            <a:r>
              <a:rPr>
                <a:solidFill>
                  <a:schemeClr val="tx1"/>
                </a:solidFill>
              </a:rPr>
              <a:t>* High-Arousal Emotions Dominate</a:t>
            </a:r>
          </a:p>
          <a:p>
            <a:pPr>
              <a:defRPr sz="950">
                <a:solidFill>
                  <a:srgbClr val="475569"/>
                </a:solidFill>
              </a:defRPr>
            </a:pPr>
            <a:r>
              <a:rPr>
                <a:solidFill>
                  <a:schemeClr val="tx1"/>
                </a:solidFill>
              </a:rPr>
              <a:t>Angry (F1 = 0.7812) and Surprised (F1 = 0.7245) achieved the highest recognition rates due to sharp pitch peaks, high volume dynamics, and pronounced spectral energy bursts.</a:t>
            </a:r>
          </a:p>
          <a:p>
            <a:br>
              <a:rPr>
                <a:solidFill>
                  <a:schemeClr val="tx1"/>
                </a:solidFill>
              </a:rPr>
            </a:br>
            <a:r>
              <a:rPr>
                <a:solidFill>
                  <a:schemeClr val="tx1"/>
                </a:solidFill>
              </a:rPr>
              <a:t>* Moderate Performers</a:t>
            </a:r>
          </a:p>
          <a:p>
            <a:pPr>
              <a:defRPr sz="950">
                <a:solidFill>
                  <a:srgbClr val="475569"/>
                </a:solidFill>
              </a:defRPr>
            </a:pPr>
            <a:r>
              <a:rPr>
                <a:solidFill>
                  <a:schemeClr val="tx1"/>
                </a:solidFill>
              </a:rPr>
              <a:t>Sad (F1 = 0.6520), Fearful (F1 = 0.6210), and Disgust (F1 = 0.6150) exhibited clear separable clusters.</a:t>
            </a:r>
          </a:p>
          <a:p>
            <a:br>
              <a:rPr>
                <a:solidFill>
                  <a:schemeClr val="tx1"/>
                </a:solidFill>
              </a:rPr>
            </a:br>
            <a:r>
              <a:rPr>
                <a:solidFill>
                  <a:schemeClr val="tx1"/>
                </a:solidFill>
              </a:rPr>
              <a:t>* Acoustic Confusion Quadrants</a:t>
            </a:r>
          </a:p>
          <a:p>
            <a:pPr>
              <a:defRPr sz="950">
                <a:solidFill>
                  <a:srgbClr val="475569"/>
                </a:solidFill>
              </a:defRPr>
            </a:pPr>
            <a:r>
              <a:rPr>
                <a:solidFill>
                  <a:schemeClr val="tx1"/>
                </a:solidFill>
              </a:rPr>
              <a:t>Calm vs. Neutral: Primary source of mutual confusion due to shared flat pitch contours, low energy, and Neutral having 50% fewer samples.</a:t>
            </a:r>
            <a:br>
              <a:rPr>
                <a:solidFill>
                  <a:schemeClr val="tx1"/>
                </a:solidFill>
              </a:rPr>
            </a:br>
            <a:r>
              <a:rPr>
                <a:solidFill>
                  <a:schemeClr val="tx1"/>
                </a:solidFill>
              </a:rPr>
              <a:t>Happy (F1 = 0.5505): Confused occasionally with Angry and Surprised due to shared high arousal.</a:t>
            </a:r>
          </a:p>
          <a:p>
            <a:br>
              <a:rPr>
                <a:solidFill>
                  <a:schemeClr val="tx1"/>
                </a:solidFill>
              </a:rPr>
            </a:br>
            <a:r>
              <a:rPr>
                <a:solidFill>
                  <a:schemeClr val="tx1"/>
                </a:solidFill>
              </a:rPr>
              <a:t>* Resolving the Literature Discrepancy (63.5% vs. Paper's 93.8%)</a:t>
            </a:r>
          </a:p>
          <a:p>
            <a:pPr>
              <a:defRPr sz="950">
                <a:solidFill>
                  <a:srgbClr val="475569"/>
                </a:solidFill>
              </a:defRPr>
            </a:pPr>
            <a:r>
              <a:rPr>
                <a:solidFill>
                  <a:schemeClr val="tx1"/>
                </a:solidFill>
              </a:rPr>
              <a:t>1. Frame Voting vs. Sentence-Level: The paper used 128-sample micro-segments with segment majority voting, artificially inflating scores. Our benchmark evaluates true sentence-level classification.</a:t>
            </a:r>
            <a:br>
              <a:rPr>
                <a:solidFill>
                  <a:schemeClr val="tx1"/>
                </a:solidFill>
              </a:rPr>
            </a:br>
            <a:r>
              <a:rPr>
                <a:solidFill>
                  <a:schemeClr val="tx1"/>
                </a:solidFill>
              </a:rPr>
              <a:t>2. Zero Data Leakage: Naive papers fit scalers globally before train-test splits. Our pipeline enforces strict fold isolation.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3" name="Rounded Rectangle 2"/>
          <p:cNvSpPr/>
          <p:nvPr/>
        </p:nvSpPr>
        <p:spPr>
          <a:xfrm>
            <a:off x="731520" y="365760"/>
            <a:ext cx="4114800" cy="347472"/>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wrap="square" lIns="137160" tIns="36576" rtlCol="0" anchor="ctr"/>
          <a:lstStyle/>
          <a:p>
            <a:pPr algn="ctr">
              <a:defRPr sz="1100" b="1">
                <a:solidFill>
                  <a:srgbClr val="FFFFFF"/>
                </a:solidFill>
              </a:defRPr>
            </a:pPr>
            <a:r>
              <a:rPr>
                <a:solidFill>
                  <a:schemeClr val="tx1"/>
                </a:solidFill>
              </a:rPr>
              <a:t>PHASE 4: EVALUATION &amp; UI  |  PRESENTER: OMER</a:t>
            </a:r>
          </a:p>
        </p:txBody>
      </p:sp>
      <p:sp>
        <p:nvSpPr>
          <p:cNvPr id="4" name="TextBox 3"/>
          <p:cNvSpPr txBox="1"/>
          <p:nvPr/>
        </p:nvSpPr>
        <p:spPr>
          <a:xfrm>
            <a:off x="731520" y="777240"/>
            <a:ext cx="10698480" cy="384721"/>
          </a:xfrm>
          <a:prstGeom prst="rect">
            <a:avLst/>
          </a:prstGeom>
          <a:noFill/>
        </p:spPr>
        <p:txBody>
          <a:bodyPr wrap="square" lIns="0" tIns="0">
            <a:spAutoFit/>
          </a:bodyPr>
          <a:lstStyle/>
          <a:p>
            <a:pPr>
              <a:defRPr sz="2200" b="1">
                <a:solidFill>
                  <a:srgbClr val="0F172A"/>
                </a:solidFill>
              </a:defRPr>
            </a:pPr>
            <a:r>
              <a:t>Phase 4: Real-Time Streamlit Web Application Deployment</a:t>
            </a:r>
          </a:p>
        </p:txBody>
      </p:sp>
      <p:sp>
        <p:nvSpPr>
          <p:cNvPr id="5" name="Rounded Rectangle 4"/>
          <p:cNvSpPr/>
          <p:nvPr/>
        </p:nvSpPr>
        <p:spPr>
          <a:xfrm>
            <a:off x="731520" y="1645920"/>
            <a:ext cx="5120640" cy="4663440"/>
          </a:xfrm>
          <a:prstGeom prst="roundRect">
            <a:avLst/>
          </a:prstGeom>
          <a:solidFill>
            <a:srgbClr val="F1F5F9"/>
          </a:solidFill>
          <a:ln>
            <a:solidFill>
              <a:srgbClr val="0284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0284C7"/>
                </a:solidFill>
              </a:defRPr>
            </a:pPr>
            <a:r>
              <a:rPr>
                <a:solidFill>
                  <a:schemeClr val="tx1"/>
                </a:solidFill>
              </a:rPr>
              <a:t>APPLICATION ARCHITECTURE &amp; FEATURES</a:t>
            </a:r>
          </a:p>
          <a:p>
            <a:br>
              <a:rPr>
                <a:solidFill>
                  <a:schemeClr val="tx1"/>
                </a:solidFill>
              </a:rPr>
            </a:br>
            <a:r>
              <a:rPr>
                <a:solidFill>
                  <a:schemeClr val="tx1"/>
                </a:solidFill>
              </a:rPr>
              <a:t>* Input Audio Ingestion</a:t>
            </a:r>
          </a:p>
          <a:p>
            <a:pPr>
              <a:defRPr sz="1000">
                <a:solidFill>
                  <a:srgbClr val="475569"/>
                </a:solidFill>
              </a:defRPr>
            </a:pPr>
            <a:r>
              <a:rPr>
                <a:solidFill>
                  <a:schemeClr val="tx1"/>
                </a:solidFill>
              </a:rPr>
              <a:t>Supports drag-and-drop WAV audio upload or real-time browser microphone audio recording.</a:t>
            </a:r>
          </a:p>
          <a:p>
            <a:br>
              <a:rPr>
                <a:solidFill>
                  <a:schemeClr val="tx1"/>
                </a:solidFill>
              </a:rPr>
            </a:br>
            <a:r>
              <a:rPr>
                <a:solidFill>
                  <a:schemeClr val="tx1"/>
                </a:solidFill>
              </a:rPr>
              <a:t>* Real-Time Feature Pipeline</a:t>
            </a:r>
          </a:p>
          <a:p>
            <a:pPr>
              <a:defRPr sz="1000">
                <a:solidFill>
                  <a:srgbClr val="475569"/>
                </a:solidFill>
              </a:defRPr>
            </a:pPr>
            <a:r>
              <a:rPr>
                <a:solidFill>
                  <a:schemeClr val="tx1"/>
                </a:solidFill>
              </a:rPr>
              <a:t>Invokes features.py to extract all 217 acoustic features (MFCC, Chroma, Mel, Contrast, Tonality) in under 15 ms.</a:t>
            </a:r>
          </a:p>
          <a:p>
            <a:br>
              <a:rPr>
                <a:solidFill>
                  <a:schemeClr val="tx1"/>
                </a:solidFill>
              </a:rPr>
            </a:br>
            <a:r>
              <a:rPr>
                <a:solidFill>
                  <a:schemeClr val="tx1"/>
                </a:solidFill>
              </a:rPr>
              <a:t>* Inference Engine</a:t>
            </a:r>
          </a:p>
          <a:p>
            <a:pPr>
              <a:defRPr sz="1000">
                <a:solidFill>
                  <a:srgbClr val="475569"/>
                </a:solidFill>
              </a:defRPr>
            </a:pPr>
            <a:r>
              <a:rPr>
                <a:solidFill>
                  <a:schemeClr val="tx1"/>
                </a:solidFill>
              </a:rPr>
              <a:t>Loads trained DCapsNet weights (dcapsnet_model.h5) and executes forward pass with dynamic routing.</a:t>
            </a:r>
          </a:p>
          <a:p>
            <a:br>
              <a:rPr>
                <a:solidFill>
                  <a:schemeClr val="tx1"/>
                </a:solidFill>
              </a:rPr>
            </a:br>
            <a:r>
              <a:rPr>
                <a:solidFill>
                  <a:schemeClr val="tx1"/>
                </a:solidFill>
              </a:rPr>
              <a:t>* Interactive Probability Distribution</a:t>
            </a:r>
          </a:p>
          <a:p>
            <a:pPr>
              <a:defRPr sz="1000">
                <a:solidFill>
                  <a:srgbClr val="475569"/>
                </a:solidFill>
              </a:defRPr>
            </a:pPr>
            <a:r>
              <a:rPr>
                <a:solidFill>
                  <a:schemeClr val="tx1"/>
                </a:solidFill>
              </a:rPr>
              <a:t>Renders full 8-class probability horizontal bar chart showing confidence distribution across all emotions.</a:t>
            </a:r>
          </a:p>
          <a:p>
            <a:br>
              <a:rPr>
                <a:solidFill>
                  <a:schemeClr val="tx1"/>
                </a:solidFill>
              </a:rPr>
            </a:br>
            <a:r>
              <a:rPr>
                <a:solidFill>
                  <a:schemeClr val="tx1"/>
                </a:solidFill>
              </a:rPr>
              <a:t>* Signal Visualization</a:t>
            </a:r>
          </a:p>
          <a:p>
            <a:pPr>
              <a:defRPr sz="1000">
                <a:solidFill>
                  <a:srgbClr val="475569"/>
                </a:solidFill>
              </a:defRPr>
            </a:pPr>
            <a:r>
              <a:rPr>
                <a:solidFill>
                  <a:schemeClr val="tx1"/>
                </a:solidFill>
              </a:rPr>
              <a:t>Displays interactive audio waveform player and spectrogram visualizer.</a:t>
            </a:r>
          </a:p>
          <a:p>
            <a:br>
              <a:rPr>
                <a:solidFill>
                  <a:schemeClr val="tx1"/>
                </a:solidFill>
              </a:rPr>
            </a:br>
            <a:r>
              <a:rPr>
                <a:solidFill>
                  <a:schemeClr val="tx1"/>
                </a:solidFill>
              </a:rPr>
              <a:t>* Live Deployment Status</a:t>
            </a:r>
          </a:p>
          <a:p>
            <a:pPr>
              <a:defRPr sz="1000">
                <a:solidFill>
                  <a:srgbClr val="475569"/>
                </a:solidFill>
              </a:defRPr>
            </a:pPr>
            <a:r>
              <a:rPr>
                <a:solidFill>
                  <a:schemeClr val="tx1"/>
                </a:solidFill>
              </a:rPr>
              <a:t>Running locally on http://localhost:8501, fully functional and ready for live demonstration.</a:t>
            </a:r>
          </a:p>
        </p:txBody>
      </p:sp>
      <p:sp>
        <p:nvSpPr>
          <p:cNvPr id="6" name="Rounded Rectangle 5"/>
          <p:cNvSpPr/>
          <p:nvPr/>
        </p:nvSpPr>
        <p:spPr>
          <a:xfrm>
            <a:off x="6217920" y="1645920"/>
            <a:ext cx="5212080" cy="4663440"/>
          </a:xfrm>
          <a:prstGeom prst="roundRect">
            <a:avLst/>
          </a:prstGeom>
          <a:solidFill>
            <a:srgbClr val="F0F9FF"/>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2563EB"/>
                </a:solidFill>
              </a:defRPr>
            </a:pPr>
            <a:r>
              <a:rPr>
                <a:solidFill>
                  <a:schemeClr val="tx1"/>
                </a:solidFill>
              </a:rPr>
              <a:t>LIVE SYSTEM DEMONSTRATION WORKFLOW</a:t>
            </a:r>
          </a:p>
          <a:p>
            <a:br>
              <a:rPr>
                <a:solidFill>
                  <a:schemeClr val="tx1"/>
                </a:solidFill>
              </a:rPr>
            </a:br>
            <a:r>
              <a:rPr>
                <a:solidFill>
                  <a:schemeClr val="tx1"/>
                </a:solidFill>
              </a:rPr>
              <a:t>* Step 1: Audio Input</a:t>
            </a:r>
          </a:p>
          <a:p>
            <a:pPr>
              <a:defRPr sz="1000">
                <a:solidFill>
                  <a:srgbClr val="475569"/>
                </a:solidFill>
              </a:defRPr>
            </a:pPr>
            <a:r>
              <a:rPr>
                <a:solidFill>
                  <a:schemeClr val="tx1"/>
                </a:solidFill>
              </a:rPr>
              <a:t>User uploads speech clip: Actor_01/03-01-01-01-01-01-01.wav ('Kids are talking by the door').</a:t>
            </a:r>
          </a:p>
          <a:p>
            <a:br>
              <a:rPr>
                <a:solidFill>
                  <a:schemeClr val="tx1"/>
                </a:solidFill>
              </a:rPr>
            </a:br>
            <a:r>
              <a:rPr>
                <a:solidFill>
                  <a:schemeClr val="tx1"/>
                </a:solidFill>
              </a:rPr>
              <a:t>* Step 2: Instant Inference</a:t>
            </a:r>
          </a:p>
          <a:p>
            <a:pPr>
              <a:defRPr sz="1000">
                <a:solidFill>
                  <a:srgbClr val="475569"/>
                </a:solidFill>
              </a:defRPr>
            </a:pPr>
            <a:r>
              <a:rPr>
                <a:solidFill>
                  <a:schemeClr val="tx1"/>
                </a:solidFill>
              </a:rPr>
              <a:t>Total system processing latency: 14.2 ms (Feature extraction: 5.9 ms, DCapsNet inference: 8.3 ms).</a:t>
            </a:r>
          </a:p>
          <a:p>
            <a:br>
              <a:rPr>
                <a:solidFill>
                  <a:schemeClr val="tx1"/>
                </a:solidFill>
              </a:rPr>
            </a:br>
            <a:r>
              <a:rPr>
                <a:solidFill>
                  <a:schemeClr val="tx1"/>
                </a:solidFill>
              </a:rPr>
              <a:t>* Step 3: Prediction Output</a:t>
            </a:r>
          </a:p>
          <a:p>
            <a:pPr>
              <a:defRPr sz="1000">
                <a:solidFill>
                  <a:srgbClr val="475569"/>
                </a:solidFill>
              </a:defRPr>
            </a:pPr>
            <a:r>
              <a:rPr>
                <a:solidFill>
                  <a:schemeClr val="tx1"/>
                </a:solidFill>
              </a:rPr>
              <a:t>Predicted Emotion: NEUTRAL (Confidence Score: 0.760 / 76.0%).</a:t>
            </a:r>
          </a:p>
          <a:p>
            <a:br>
              <a:rPr>
                <a:solidFill>
                  <a:schemeClr val="tx1"/>
                </a:solidFill>
              </a:rPr>
            </a:br>
            <a:r>
              <a:rPr>
                <a:solidFill>
                  <a:schemeClr val="tx1"/>
                </a:solidFill>
              </a:rPr>
              <a:t>* Step 4: Distribution Breakdown</a:t>
            </a:r>
          </a:p>
          <a:p>
            <a:pPr>
              <a:defRPr sz="1000">
                <a:solidFill>
                  <a:srgbClr val="475569"/>
                </a:solidFill>
              </a:defRPr>
            </a:pPr>
            <a:r>
              <a:rPr>
                <a:solidFill>
                  <a:schemeClr val="tx1"/>
                </a:solidFill>
              </a:rPr>
              <a:t>Neutral: 76.0% | Calm: 14.2% | Sad: 4.8% | Happy: 2.1% | Angry: 1.1% | Other: 1.8%.</a:t>
            </a:r>
          </a:p>
          <a:p>
            <a:br>
              <a:rPr>
                <a:solidFill>
                  <a:schemeClr val="tx1"/>
                </a:solidFill>
              </a:rPr>
            </a:br>
            <a:r>
              <a:rPr>
                <a:solidFill>
                  <a:schemeClr val="tx1"/>
                </a:solidFill>
              </a:rPr>
              <a:t>* Step 5: Visual Verification</a:t>
            </a:r>
          </a:p>
          <a:p>
            <a:pPr>
              <a:defRPr sz="1000">
                <a:solidFill>
                  <a:srgbClr val="475569"/>
                </a:solidFill>
              </a:defRPr>
            </a:pPr>
            <a:r>
              <a:rPr>
                <a:solidFill>
                  <a:schemeClr val="tx1"/>
                </a:solidFill>
              </a:rPr>
              <a:t>Audio player allows the faculty evaluator to listen to the clip and verify the prediction in real-time.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solidFill>
                <a:schemeClr val="tx1"/>
              </a:solidFill>
            </a:endParaRPr>
          </a:p>
        </p:txBody>
      </p:sp>
      <p:sp>
        <p:nvSpPr>
          <p:cNvPr id="3" name="Rounded Rectangle 2"/>
          <p:cNvSpPr/>
          <p:nvPr/>
        </p:nvSpPr>
        <p:spPr>
          <a:xfrm>
            <a:off x="731520" y="365760"/>
            <a:ext cx="4114800" cy="34747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wrap="square" lIns="137160" tIns="36576" rtlCol="0" anchor="ctr"/>
          <a:lstStyle/>
          <a:p>
            <a:pPr algn="ctr">
              <a:defRPr sz="1100" b="1">
                <a:solidFill>
                  <a:srgbClr val="FFFFFF"/>
                </a:solidFill>
              </a:defRPr>
            </a:pPr>
            <a:r>
              <a:rPr sz="1050">
                <a:solidFill>
                  <a:schemeClr val="tx1"/>
                </a:solidFill>
              </a:rPr>
              <a:t>PROJECT SYNTHESIS  |  PRESENTER: ZEESHAN</a:t>
            </a:r>
          </a:p>
        </p:txBody>
      </p:sp>
      <p:sp>
        <p:nvSpPr>
          <p:cNvPr id="4" name="TextBox 3"/>
          <p:cNvSpPr txBox="1"/>
          <p:nvPr/>
        </p:nvSpPr>
        <p:spPr>
          <a:xfrm>
            <a:off x="731520" y="777240"/>
            <a:ext cx="10698480" cy="353943"/>
          </a:xfrm>
          <a:prstGeom prst="rect">
            <a:avLst/>
          </a:prstGeom>
          <a:noFill/>
        </p:spPr>
        <p:txBody>
          <a:bodyPr wrap="square" lIns="0" tIns="0">
            <a:spAutoFit/>
          </a:bodyPr>
          <a:lstStyle/>
          <a:p>
            <a:pPr>
              <a:defRPr sz="2200" b="1">
                <a:solidFill>
                  <a:srgbClr val="0F172A"/>
                </a:solidFill>
              </a:defRPr>
            </a:pPr>
            <a:r>
              <a:rPr sz="2000"/>
              <a:t>Synthesis of Team Contributions &amp; Pipeline Integration</a:t>
            </a:r>
          </a:p>
        </p:txBody>
      </p:sp>
      <p:sp>
        <p:nvSpPr>
          <p:cNvPr id="5" name="Rounded Rectangle 4"/>
          <p:cNvSpPr/>
          <p:nvPr/>
        </p:nvSpPr>
        <p:spPr>
          <a:xfrm>
            <a:off x="731520" y="1645920"/>
            <a:ext cx="3383280" cy="4663440"/>
          </a:xfrm>
          <a:prstGeom prst="roundRect">
            <a:avLst/>
          </a:prstGeom>
          <a:solidFill>
            <a:srgbClr val="F1F5F9"/>
          </a:solidFill>
          <a:ln>
            <a:solidFill>
              <a:srgbClr val="0284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0284C7"/>
                </a:solidFill>
              </a:defRPr>
            </a:pPr>
            <a:r>
              <a:rPr sz="1200">
                <a:solidFill>
                  <a:schemeClr val="tx1"/>
                </a:solidFill>
              </a:rPr>
              <a:t>OMER: Data Engineering &amp; Deployment</a:t>
            </a:r>
          </a:p>
          <a:p>
            <a:br>
              <a:rPr sz="1600">
                <a:solidFill>
                  <a:schemeClr val="tx1"/>
                </a:solidFill>
              </a:rPr>
            </a:br>
            <a:r>
              <a:rPr sz="1600">
                <a:solidFill>
                  <a:schemeClr val="tx1"/>
                </a:solidFill>
              </a:rPr>
              <a:t>* Harmonized RAVDESS, SAVEE, and EMO-DB speech corpora.</a:t>
            </a:r>
          </a:p>
          <a:p>
            <a:br>
              <a:rPr sz="1600">
                <a:solidFill>
                  <a:schemeClr val="tx1"/>
                </a:solidFill>
              </a:rPr>
            </a:br>
            <a:r>
              <a:rPr sz="1600">
                <a:solidFill>
                  <a:schemeClr val="tx1"/>
                </a:solidFill>
              </a:rPr>
              <a:t>* Standardized 22.05 kHz audio, pre-emphasis, and silence trimming.</a:t>
            </a:r>
          </a:p>
          <a:p>
            <a:br>
              <a:rPr sz="1600">
                <a:solidFill>
                  <a:schemeClr val="tx1"/>
                </a:solidFill>
              </a:rPr>
            </a:br>
            <a:r>
              <a:rPr sz="1600">
                <a:solidFill>
                  <a:schemeClr val="tx1"/>
                </a:solidFill>
              </a:rPr>
              <a:t>* Resolved 1:2 neutral class imbalance via Stratified 10-Fold splits.</a:t>
            </a:r>
          </a:p>
          <a:p>
            <a:br>
              <a:rPr sz="1600">
                <a:solidFill>
                  <a:schemeClr val="tx1"/>
                </a:solidFill>
              </a:rPr>
            </a:br>
            <a:r>
              <a:rPr sz="1600">
                <a:solidFill>
                  <a:schemeClr val="tx1"/>
                </a:solidFill>
              </a:rPr>
              <a:t>* Executed full 10-fold benchmark evaluation &amp; per-class metrics.</a:t>
            </a:r>
          </a:p>
          <a:p>
            <a:br>
              <a:rPr sz="1600">
                <a:solidFill>
                  <a:schemeClr val="tx1"/>
                </a:solidFill>
              </a:rPr>
            </a:br>
            <a:r>
              <a:rPr sz="1600">
                <a:solidFill>
                  <a:schemeClr val="tx1"/>
                </a:solidFill>
              </a:rPr>
              <a:t>* Designed and deployed the real-time Streamlit web interface.</a:t>
            </a:r>
          </a:p>
        </p:txBody>
      </p:sp>
      <p:sp>
        <p:nvSpPr>
          <p:cNvPr id="6" name="Rounded Rectangle 5"/>
          <p:cNvSpPr/>
          <p:nvPr/>
        </p:nvSpPr>
        <p:spPr>
          <a:xfrm>
            <a:off x="4389120" y="1645920"/>
            <a:ext cx="3383280" cy="4663440"/>
          </a:xfrm>
          <a:prstGeom prst="roundRect">
            <a:avLst/>
          </a:prstGeom>
          <a:solidFill>
            <a:srgbClr val="F1F5F9"/>
          </a:solidFill>
          <a:ln>
            <a:solidFill>
              <a:srgbClr val="7C3AE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7C3AED"/>
                </a:solidFill>
              </a:defRPr>
            </a:pPr>
            <a:r>
              <a:rPr sz="1200" dirty="0">
                <a:solidFill>
                  <a:schemeClr val="tx1"/>
                </a:solidFill>
              </a:rPr>
              <a:t>ANSHUMAN: Architecture &amp; Pipeline</a:t>
            </a:r>
          </a:p>
          <a:p>
            <a:br>
              <a:rPr sz="1600" dirty="0">
                <a:solidFill>
                  <a:schemeClr val="tx1"/>
                </a:solidFill>
              </a:rPr>
            </a:br>
            <a:r>
              <a:rPr sz="1600" dirty="0">
                <a:solidFill>
                  <a:schemeClr val="tx1"/>
                </a:solidFill>
              </a:rPr>
              <a:t>* Implemented 1.225M-parameter </a:t>
            </a:r>
            <a:r>
              <a:rPr sz="1600" dirty="0" err="1">
                <a:solidFill>
                  <a:schemeClr val="tx1"/>
                </a:solidFill>
              </a:rPr>
              <a:t>DCapsNet</a:t>
            </a:r>
            <a:r>
              <a:rPr sz="1600" dirty="0">
                <a:solidFill>
                  <a:schemeClr val="tx1"/>
                </a:solidFill>
              </a:rPr>
              <a:t> in TensorFlow/</a:t>
            </a:r>
            <a:r>
              <a:rPr sz="1600" dirty="0" err="1">
                <a:solidFill>
                  <a:schemeClr val="tx1"/>
                </a:solidFill>
              </a:rPr>
              <a:t>Keras</a:t>
            </a:r>
            <a:r>
              <a:rPr sz="1600" dirty="0">
                <a:solidFill>
                  <a:schemeClr val="tx1"/>
                </a:solidFill>
              </a:rPr>
              <a:t>.</a:t>
            </a:r>
          </a:p>
          <a:p>
            <a:br>
              <a:rPr sz="1600" dirty="0">
                <a:solidFill>
                  <a:schemeClr val="tx1"/>
                </a:solidFill>
              </a:rPr>
            </a:br>
            <a:r>
              <a:rPr sz="1600" dirty="0">
                <a:solidFill>
                  <a:schemeClr val="tx1"/>
                </a:solidFill>
              </a:rPr>
              <a:t>* Built 217-D acoustic extractor (MFCC, Chroma, Mel, Contrast, Tonality).</a:t>
            </a:r>
          </a:p>
          <a:p>
            <a:br>
              <a:rPr sz="1600" dirty="0">
                <a:solidFill>
                  <a:schemeClr val="tx1"/>
                </a:solidFill>
              </a:rPr>
            </a:br>
            <a:r>
              <a:rPr sz="1600" dirty="0">
                <a:solidFill>
                  <a:schemeClr val="tx1"/>
                </a:solidFill>
              </a:rPr>
              <a:t>* Corrected Spectral Contrast </a:t>
            </a:r>
            <a:r>
              <a:rPr sz="1600" dirty="0" err="1">
                <a:solidFill>
                  <a:schemeClr val="tx1"/>
                </a:solidFill>
              </a:rPr>
              <a:t>f_min</a:t>
            </a:r>
            <a:r>
              <a:rPr sz="1600" dirty="0">
                <a:solidFill>
                  <a:schemeClr val="tx1"/>
                </a:solidFill>
              </a:rPr>
              <a:t>=100 Hz Nyquist overflow discrepancy.</a:t>
            </a:r>
          </a:p>
          <a:p>
            <a:br>
              <a:rPr sz="1600" dirty="0">
                <a:solidFill>
                  <a:schemeClr val="tx1"/>
                </a:solidFill>
              </a:rPr>
            </a:br>
            <a:r>
              <a:rPr sz="1600" dirty="0">
                <a:solidFill>
                  <a:schemeClr val="tx1"/>
                </a:solidFill>
              </a:rPr>
              <a:t>* Designed 3-way waveform data augmentation engine.</a:t>
            </a:r>
          </a:p>
          <a:p>
            <a:br>
              <a:rPr sz="1600" dirty="0">
                <a:solidFill>
                  <a:schemeClr val="tx1"/>
                </a:solidFill>
              </a:rPr>
            </a:br>
            <a:r>
              <a:rPr sz="1600" dirty="0">
                <a:solidFill>
                  <a:schemeClr val="tx1"/>
                </a:solidFill>
              </a:rPr>
              <a:t>* Implemented 1D-CNN and </a:t>
            </a:r>
            <a:r>
              <a:rPr sz="1600" dirty="0" err="1">
                <a:solidFill>
                  <a:schemeClr val="tx1"/>
                </a:solidFill>
              </a:rPr>
              <a:t>BiLSTM</a:t>
            </a:r>
            <a:r>
              <a:rPr sz="1600" dirty="0">
                <a:solidFill>
                  <a:schemeClr val="tx1"/>
                </a:solidFill>
              </a:rPr>
              <a:t> baselines &amp; executed initial CV runs.</a:t>
            </a:r>
          </a:p>
        </p:txBody>
      </p:sp>
      <p:sp>
        <p:nvSpPr>
          <p:cNvPr id="7" name="Rounded Rectangle 6"/>
          <p:cNvSpPr/>
          <p:nvPr/>
        </p:nvSpPr>
        <p:spPr>
          <a:xfrm>
            <a:off x="8046720" y="1645920"/>
            <a:ext cx="3383280" cy="4663440"/>
          </a:xfrm>
          <a:prstGeom prst="roundRect">
            <a:avLst/>
          </a:prstGeom>
          <a:solidFill>
            <a:srgbClr val="F1F5F9"/>
          </a:solidFill>
          <a:ln>
            <a:solidFill>
              <a:srgbClr val="D9770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D97706"/>
                </a:solidFill>
              </a:defRPr>
            </a:pPr>
            <a:r>
              <a:rPr sz="1200" dirty="0">
                <a:solidFill>
                  <a:schemeClr val="tx1"/>
                </a:solidFill>
              </a:rPr>
              <a:t>ZEESHAN: Training &amp; Accuracy Gains</a:t>
            </a:r>
          </a:p>
          <a:p>
            <a:br>
              <a:rPr sz="1600" dirty="0">
                <a:solidFill>
                  <a:schemeClr val="tx1"/>
                </a:solidFill>
              </a:rPr>
            </a:br>
            <a:r>
              <a:rPr sz="1600" dirty="0">
                <a:solidFill>
                  <a:schemeClr val="tx1"/>
                </a:solidFill>
              </a:rPr>
              <a:t>* Designed and executed systematic 5-stage training optimization.</a:t>
            </a:r>
          </a:p>
          <a:p>
            <a:br>
              <a:rPr sz="1600" dirty="0">
                <a:solidFill>
                  <a:schemeClr val="tx1"/>
                </a:solidFill>
              </a:rPr>
            </a:br>
            <a:r>
              <a:rPr sz="1600" dirty="0">
                <a:solidFill>
                  <a:schemeClr val="tx1"/>
                </a:solidFill>
              </a:rPr>
              <a:t>* Tuned learning rate (3e-4) with adaptive </a:t>
            </a:r>
            <a:r>
              <a:rPr sz="1600" dirty="0" err="1">
                <a:solidFill>
                  <a:schemeClr val="tx1"/>
                </a:solidFill>
              </a:rPr>
              <a:t>ReduceLROnPlateau</a:t>
            </a:r>
            <a:r>
              <a:rPr sz="1600" dirty="0">
                <a:solidFill>
                  <a:schemeClr val="tx1"/>
                </a:solidFill>
              </a:rPr>
              <a:t>.</a:t>
            </a:r>
          </a:p>
          <a:p>
            <a:br>
              <a:rPr sz="1600" dirty="0">
                <a:solidFill>
                  <a:schemeClr val="tx1"/>
                </a:solidFill>
              </a:rPr>
            </a:br>
            <a:r>
              <a:rPr sz="1600" dirty="0">
                <a:solidFill>
                  <a:schemeClr val="tx1"/>
                </a:solidFill>
              </a:rPr>
              <a:t>* Optimized batch size to 16 to stabilize capsule squash normalization.</a:t>
            </a:r>
          </a:p>
          <a:p>
            <a:br>
              <a:rPr sz="1600" dirty="0">
                <a:solidFill>
                  <a:schemeClr val="tx1"/>
                </a:solidFill>
              </a:rPr>
            </a:br>
            <a:r>
              <a:rPr sz="1600" dirty="0">
                <a:solidFill>
                  <a:schemeClr val="tx1"/>
                </a:solidFill>
              </a:rPr>
              <a:t>* Added gradient clipping and weight decay to prevent saturation.</a:t>
            </a:r>
          </a:p>
          <a:p>
            <a:br>
              <a:rPr sz="1600" dirty="0">
                <a:solidFill>
                  <a:schemeClr val="tx1"/>
                </a:solidFill>
              </a:rPr>
            </a:br>
            <a:r>
              <a:rPr sz="1600" dirty="0">
                <a:solidFill>
                  <a:schemeClr val="tx1"/>
                </a:solidFill>
              </a:rPr>
              <a:t>* Conducted Dynamic Routing ablation (r=1, 2, 3), achieving +9.44% gain.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365760"/>
            <a:ext cx="411480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wrap="square" lIns="137160" tIns="36576" rtlCol="0" anchor="ctr"/>
          <a:lstStyle/>
          <a:p>
            <a:pPr algn="ctr">
              <a:defRPr sz="1100" b="1">
                <a:solidFill>
                  <a:srgbClr val="FFFFFF"/>
                </a:solidFill>
              </a:defRPr>
            </a:pPr>
            <a:r>
              <a:t>CONCLUSION &amp; DEFENSE  |  PRESENTER: ALL MEMBERS</a:t>
            </a:r>
          </a:p>
        </p:txBody>
      </p:sp>
      <p:sp>
        <p:nvSpPr>
          <p:cNvPr id="4" name="TextBox 3"/>
          <p:cNvSpPr txBox="1"/>
          <p:nvPr/>
        </p:nvSpPr>
        <p:spPr>
          <a:xfrm>
            <a:off x="731520" y="777240"/>
            <a:ext cx="10698480" cy="685800"/>
          </a:xfrm>
          <a:prstGeom prst="rect">
            <a:avLst/>
          </a:prstGeom>
          <a:noFill/>
        </p:spPr>
        <p:txBody>
          <a:bodyPr wrap="square" lIns="0" tIns="0">
            <a:spAutoFit/>
          </a:bodyPr>
          <a:lstStyle/>
          <a:p>
            <a:pPr>
              <a:defRPr sz="2200" b="1">
                <a:solidFill>
                  <a:srgbClr val="0F172A"/>
                </a:solidFill>
              </a:defRPr>
            </a:pPr>
            <a:r>
              <a:t>Conclusion, Future Roadmap &amp; Faculty Defense Q&amp;A</a:t>
            </a:r>
          </a:p>
        </p:txBody>
      </p:sp>
      <p:sp>
        <p:nvSpPr>
          <p:cNvPr id="5" name="Rounded Rectangle 4"/>
          <p:cNvSpPr/>
          <p:nvPr/>
        </p:nvSpPr>
        <p:spPr>
          <a:xfrm>
            <a:off x="731520" y="1645920"/>
            <a:ext cx="5120640" cy="466344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2563EB"/>
                </a:solidFill>
              </a:defRPr>
            </a:pPr>
            <a:r>
              <a:rPr sz="1400" dirty="0">
                <a:solidFill>
                  <a:schemeClr val="tx1"/>
                </a:solidFill>
              </a:rPr>
              <a:t>CORE CONCLUSIONS &amp; FUTURE DIRECTIONS</a:t>
            </a:r>
          </a:p>
          <a:p>
            <a:br>
              <a:rPr sz="2000" dirty="0">
                <a:solidFill>
                  <a:schemeClr val="tx1"/>
                </a:solidFill>
              </a:rPr>
            </a:br>
            <a:r>
              <a:rPr sz="2000" dirty="0">
                <a:solidFill>
                  <a:schemeClr val="tx1"/>
                </a:solidFill>
              </a:rPr>
              <a:t>* Dilated Convolutions Preserve Formants</a:t>
            </a:r>
          </a:p>
          <a:p>
            <a:pPr>
              <a:defRPr sz="1000">
                <a:solidFill>
                  <a:srgbClr val="475569"/>
                </a:solidFill>
              </a:defRPr>
            </a:pPr>
            <a:r>
              <a:rPr sz="1050" dirty="0">
                <a:solidFill>
                  <a:schemeClr val="tx1"/>
                </a:solidFill>
              </a:rPr>
              <a:t>Replacing pooling with dilated convolutions expands the temporal receptive field to 31 feature bins without discarding spatial pitch-formant alignment.</a:t>
            </a:r>
          </a:p>
          <a:p>
            <a:br>
              <a:rPr sz="2000" dirty="0">
                <a:solidFill>
                  <a:schemeClr val="tx1"/>
                </a:solidFill>
              </a:rPr>
            </a:br>
            <a:r>
              <a:rPr sz="2000" dirty="0">
                <a:solidFill>
                  <a:schemeClr val="tx1"/>
                </a:solidFill>
              </a:rPr>
              <a:t>* Decisive Empirical Superiority</a:t>
            </a:r>
          </a:p>
          <a:p>
            <a:pPr>
              <a:defRPr sz="1000">
                <a:solidFill>
                  <a:srgbClr val="475569"/>
                </a:solidFill>
              </a:defRPr>
            </a:pPr>
            <a:r>
              <a:rPr sz="1050" dirty="0" err="1">
                <a:solidFill>
                  <a:schemeClr val="tx1"/>
                </a:solidFill>
              </a:rPr>
              <a:t>DCapsNet</a:t>
            </a:r>
            <a:r>
              <a:rPr sz="1050" dirty="0">
                <a:solidFill>
                  <a:schemeClr val="tx1"/>
                </a:solidFill>
              </a:rPr>
              <a:t> achieves 63.54% accuracy, outperforming 1D-CNN (51.81%) by +11.73% and </a:t>
            </a:r>
            <a:r>
              <a:rPr sz="1050" dirty="0" err="1">
                <a:solidFill>
                  <a:schemeClr val="tx1"/>
                </a:solidFill>
              </a:rPr>
              <a:t>BiLSTM</a:t>
            </a:r>
            <a:r>
              <a:rPr sz="1050" dirty="0">
                <a:solidFill>
                  <a:schemeClr val="tx1"/>
                </a:solidFill>
              </a:rPr>
              <a:t> (51.39%) by +12.15%.</a:t>
            </a:r>
          </a:p>
          <a:p>
            <a:br>
              <a:rPr sz="2000" dirty="0">
                <a:solidFill>
                  <a:schemeClr val="tx1"/>
                </a:solidFill>
              </a:rPr>
            </a:br>
            <a:r>
              <a:rPr sz="2000" dirty="0">
                <a:solidFill>
                  <a:schemeClr val="tx1"/>
                </a:solidFill>
              </a:rPr>
              <a:t>* Efficient Edge Latency</a:t>
            </a:r>
          </a:p>
          <a:p>
            <a:pPr>
              <a:defRPr sz="1000">
                <a:solidFill>
                  <a:srgbClr val="475569"/>
                </a:solidFill>
              </a:defRPr>
            </a:pPr>
            <a:r>
              <a:rPr sz="1050" dirty="0">
                <a:solidFill>
                  <a:schemeClr val="tx1"/>
                </a:solidFill>
              </a:rPr>
              <a:t>At 8.24 </a:t>
            </a:r>
            <a:r>
              <a:rPr sz="1050" dirty="0" err="1">
                <a:solidFill>
                  <a:schemeClr val="tx1"/>
                </a:solidFill>
              </a:rPr>
              <a:t>ms</a:t>
            </a:r>
            <a:r>
              <a:rPr sz="1050" dirty="0">
                <a:solidFill>
                  <a:schemeClr val="tx1"/>
                </a:solidFill>
              </a:rPr>
              <a:t>/clip, </a:t>
            </a:r>
            <a:r>
              <a:rPr sz="1050" dirty="0" err="1">
                <a:solidFill>
                  <a:schemeClr val="tx1"/>
                </a:solidFill>
              </a:rPr>
              <a:t>DCapsNet</a:t>
            </a:r>
            <a:r>
              <a:rPr sz="1050" dirty="0">
                <a:solidFill>
                  <a:schemeClr val="tx1"/>
                </a:solidFill>
              </a:rPr>
              <a:t> is 3x faster than </a:t>
            </a:r>
            <a:r>
              <a:rPr sz="1050" dirty="0" err="1">
                <a:solidFill>
                  <a:schemeClr val="tx1"/>
                </a:solidFill>
              </a:rPr>
              <a:t>BiLSTM</a:t>
            </a:r>
            <a:r>
              <a:rPr sz="1050" dirty="0">
                <a:solidFill>
                  <a:schemeClr val="tx1"/>
                </a:solidFill>
              </a:rPr>
              <a:t> (24.67 </a:t>
            </a:r>
            <a:r>
              <a:rPr sz="1050" dirty="0" err="1">
                <a:solidFill>
                  <a:schemeClr val="tx1"/>
                </a:solidFill>
              </a:rPr>
              <a:t>ms</a:t>
            </a:r>
            <a:r>
              <a:rPr sz="1050" dirty="0">
                <a:solidFill>
                  <a:schemeClr val="tx1"/>
                </a:solidFill>
              </a:rPr>
              <a:t>), demonstrating practical feasibility for real-time edge devices.</a:t>
            </a:r>
          </a:p>
          <a:p>
            <a:br>
              <a:rPr sz="2000" dirty="0">
                <a:solidFill>
                  <a:schemeClr val="tx1"/>
                </a:solidFill>
              </a:rPr>
            </a:br>
            <a:r>
              <a:rPr sz="2000" dirty="0">
                <a:solidFill>
                  <a:schemeClr val="tx1"/>
                </a:solidFill>
              </a:rPr>
              <a:t>* Future Roadmap</a:t>
            </a:r>
          </a:p>
          <a:p>
            <a:pPr>
              <a:defRPr sz="1000">
                <a:solidFill>
                  <a:srgbClr val="475569"/>
                </a:solidFill>
              </a:defRPr>
            </a:pPr>
            <a:r>
              <a:rPr sz="1050" dirty="0">
                <a:solidFill>
                  <a:schemeClr val="tx1"/>
                </a:solidFill>
              </a:rPr>
              <a:t>1. Integrating self-supervised speech foundation models (</a:t>
            </a:r>
            <a:r>
              <a:rPr sz="1050" dirty="0" err="1">
                <a:solidFill>
                  <a:schemeClr val="tx1"/>
                </a:solidFill>
              </a:rPr>
              <a:t>WavLM</a:t>
            </a:r>
            <a:r>
              <a:rPr sz="1050" dirty="0">
                <a:solidFill>
                  <a:schemeClr val="tx1"/>
                </a:solidFill>
              </a:rPr>
              <a:t>, </a:t>
            </a:r>
            <a:r>
              <a:rPr sz="1050" dirty="0" err="1">
                <a:solidFill>
                  <a:schemeClr val="tx1"/>
                </a:solidFill>
              </a:rPr>
              <a:t>HuBERT</a:t>
            </a:r>
            <a:r>
              <a:rPr sz="1050" dirty="0">
                <a:solidFill>
                  <a:schemeClr val="tx1"/>
                </a:solidFill>
              </a:rPr>
              <a:t>, wav2vec 2.0).</a:t>
            </a:r>
            <a:br>
              <a:rPr sz="1050" dirty="0">
                <a:solidFill>
                  <a:schemeClr val="tx1"/>
                </a:solidFill>
              </a:rPr>
            </a:br>
            <a:r>
              <a:rPr sz="1050" dirty="0">
                <a:solidFill>
                  <a:schemeClr val="tx1"/>
                </a:solidFill>
              </a:rPr>
              <a:t>2. Sliding-window micro-segments with temporal self-attention.</a:t>
            </a:r>
            <a:br>
              <a:rPr sz="1050" dirty="0">
                <a:solidFill>
                  <a:schemeClr val="tx1"/>
                </a:solidFill>
              </a:rPr>
            </a:br>
            <a:r>
              <a:rPr sz="1050" dirty="0">
                <a:solidFill>
                  <a:schemeClr val="tx1"/>
                </a:solidFill>
              </a:rPr>
              <a:t>3. Cross-corpus domain adaptation across RAVDESS, SAVEE, and EMO-DB.</a:t>
            </a:r>
          </a:p>
        </p:txBody>
      </p:sp>
      <p:sp>
        <p:nvSpPr>
          <p:cNvPr id="6" name="Rounded Rectangle 5"/>
          <p:cNvSpPr/>
          <p:nvPr/>
        </p:nvSpPr>
        <p:spPr>
          <a:xfrm>
            <a:off x="6217920" y="1645920"/>
            <a:ext cx="5212080" cy="4663440"/>
          </a:xfrm>
          <a:prstGeom prst="roundRect">
            <a:avLst/>
          </a:prstGeom>
          <a:solidFill>
            <a:srgbClr val="0F172A"/>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defRPr>
            </a:pPr>
            <a:r>
              <a:rPr sz="1400" dirty="0"/>
              <a:t>FACULTY VIVA DEFENSE &amp; Q&amp;A</a:t>
            </a:r>
          </a:p>
          <a:p>
            <a:br>
              <a:rPr sz="1600" dirty="0"/>
            </a:br>
            <a:r>
              <a:rPr sz="1600" dirty="0"/>
              <a:t>Thank you respected faculty members for your time and guidance.</a:t>
            </a:r>
          </a:p>
          <a:p>
            <a:br>
              <a:rPr sz="1600" dirty="0"/>
            </a:br>
            <a:r>
              <a:rPr sz="1600" dirty="0"/>
              <a:t>* Omer: Prepared to answer: Dataset curation, RAVDESS neutral imbalance, 10-fold split design, </a:t>
            </a:r>
            <a:r>
              <a:rPr sz="1600" dirty="0" err="1"/>
              <a:t>Streamlit</a:t>
            </a:r>
            <a:r>
              <a:rPr sz="1600" dirty="0"/>
              <a:t> UI latency, literature accuracy gap analysis.</a:t>
            </a:r>
          </a:p>
          <a:p>
            <a:br>
              <a:rPr sz="1600" dirty="0"/>
            </a:br>
            <a:r>
              <a:rPr sz="1600" dirty="0"/>
              <a:t>* Anshuman: Prepared to answer: Dilated convolution mathematics, primary capsule valid padding, 217-D acoustic feature extraction, margin loss formulation.</a:t>
            </a:r>
          </a:p>
          <a:p>
            <a:br>
              <a:rPr sz="1600" dirty="0"/>
            </a:br>
            <a:r>
              <a:rPr sz="1600" dirty="0"/>
              <a:t>* Zeeshan: Prepared to answer: Dynamic routing clustering mechanics, routing ablation (r=1, 2, 3), learning rate scheduling, batch size trade-offs.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4774</Words>
  <Application>Microsoft Office PowerPoint</Application>
  <PresentationFormat>Widescreen</PresentationFormat>
  <Paragraphs>320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zeeshan zeeshu</cp:lastModifiedBy>
  <cp:revision>3</cp:revision>
  <dcterms:created xsi:type="dcterms:W3CDTF">2013-01-27T09:14:16Z</dcterms:created>
  <dcterms:modified xsi:type="dcterms:W3CDTF">2026-10-25T17:30:24Z</dcterms:modified>
  <cp:category/>
</cp:coreProperties>
</file>